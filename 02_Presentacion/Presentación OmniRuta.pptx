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29LT Bukra" panose="020B0604020202020204" charset="-78"/>
      <p:regular r:id="rId17"/>
    </p:embeddedFont>
    <p:embeddedFont>
      <p:font typeface="29LT Bukra Bold" panose="020B0604020202020204" charset="-78"/>
      <p:regular r:id="rId18"/>
    </p:embeddedFont>
    <p:embeddedFont>
      <p:font typeface="29LT Bukra Semi-Bold" panose="020B0604020202020204" charset="-78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492872" y="591028"/>
            <a:ext cx="4552472" cy="4552472"/>
          </a:xfrm>
          <a:custGeom>
            <a:avLst/>
            <a:gdLst/>
            <a:ahLst/>
            <a:cxnLst/>
            <a:rect l="l" t="t" r="r" b="b"/>
            <a:pathLst>
              <a:path w="4552472" h="4552472">
                <a:moveTo>
                  <a:pt x="0" y="0"/>
                </a:moveTo>
                <a:lnTo>
                  <a:pt x="4552472" y="0"/>
                </a:lnTo>
                <a:lnTo>
                  <a:pt x="4552472" y="4552472"/>
                </a:lnTo>
                <a:lnTo>
                  <a:pt x="0" y="4552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698210" y="5625938"/>
            <a:ext cx="4453876" cy="4453876"/>
          </a:xfrm>
          <a:custGeom>
            <a:avLst/>
            <a:gdLst/>
            <a:ahLst/>
            <a:cxnLst/>
            <a:rect l="l" t="t" r="r" b="b"/>
            <a:pathLst>
              <a:path w="4453876" h="4453876">
                <a:moveTo>
                  <a:pt x="0" y="0"/>
                </a:moveTo>
                <a:lnTo>
                  <a:pt x="4453876" y="0"/>
                </a:lnTo>
                <a:lnTo>
                  <a:pt x="4453876" y="4453876"/>
                </a:lnTo>
                <a:lnTo>
                  <a:pt x="0" y="4453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97376" y="469470"/>
            <a:ext cx="10436845" cy="3951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5"/>
              </a:lnSpc>
            </a:pPr>
            <a:r>
              <a:rPr lang="en-US" sz="7601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OmniRuta: Sistema Logístico Integral y Analítica de Datos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7376" y="4458613"/>
            <a:ext cx="9648899" cy="285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6"/>
              </a:lnSpc>
            </a:pPr>
            <a:r>
              <a:rPr lang="en-US" sz="5501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Arquitectura Empresarial Inteligente (TOGAF 10 ADM)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7376" y="7700476"/>
            <a:ext cx="9977210" cy="1273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3601" b="1">
                <a:solidFill>
                  <a:srgbClr val="90C4D9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Administración y Gestión de Base de Datos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7376" y="9192839"/>
            <a:ext cx="6276760" cy="48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501" b="1">
                <a:solidFill>
                  <a:srgbClr val="D7BE28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Ingeniería de Sistemas e Informática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15552" y="261145"/>
            <a:ext cx="2798544" cy="2798544"/>
          </a:xfrm>
          <a:custGeom>
            <a:avLst/>
            <a:gdLst/>
            <a:ahLst/>
            <a:cxnLst/>
            <a:rect l="l" t="t" r="r" b="b"/>
            <a:pathLst>
              <a:path w="2798544" h="2798544">
                <a:moveTo>
                  <a:pt x="0" y="0"/>
                </a:moveTo>
                <a:lnTo>
                  <a:pt x="2798543" y="0"/>
                </a:lnTo>
                <a:lnTo>
                  <a:pt x="2798543" y="2798543"/>
                </a:lnTo>
                <a:lnTo>
                  <a:pt x="0" y="2798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3316885"/>
            <a:ext cx="3544015" cy="5941415"/>
            <a:chOff x="0" y="0"/>
            <a:chExt cx="4725353" cy="7921887"/>
          </a:xfrm>
        </p:grpSpPr>
        <p:sp>
          <p:nvSpPr>
            <p:cNvPr id="5" name="TextBox 5"/>
            <p:cNvSpPr txBox="1"/>
            <p:nvPr/>
          </p:nvSpPr>
          <p:spPr>
            <a:xfrm>
              <a:off x="0" y="-142875"/>
              <a:ext cx="4725353" cy="18836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FFFFFF"/>
                  </a:solidFill>
                  <a:latin typeface="29LT Bukra Bold"/>
                  <a:ea typeface="29LT Bukra Bold"/>
                  <a:cs typeface="29LT Bukra Bold"/>
                  <a:sym typeface="29LT Bukra Bold"/>
                </a:rPr>
                <a:t>HUERTAS PASCACIO BRYAN CRISTOPHER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08555"/>
              <a:ext cx="4725353" cy="591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Anal</a:t>
              </a:r>
              <a:r>
                <a:rPr lang="en-US" sz="2299" u="none" strike="noStrike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ista de Datos y Dashboard: encargado de conectar la BD a la herramienta BI seleccionada, diseñar el Dashboard con las visualizaciones e indicadores del proceso de negocio, y elaborar la documentación técnica del sistema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934665" y="3316885"/>
            <a:ext cx="3544015" cy="5541365"/>
            <a:chOff x="0" y="0"/>
            <a:chExt cx="4725353" cy="7388487"/>
          </a:xfrm>
        </p:grpSpPr>
        <p:sp>
          <p:nvSpPr>
            <p:cNvPr id="8" name="TextBox 8"/>
            <p:cNvSpPr txBox="1"/>
            <p:nvPr/>
          </p:nvSpPr>
          <p:spPr>
            <a:xfrm>
              <a:off x="0" y="-142875"/>
              <a:ext cx="4725353" cy="18836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FFFFFF"/>
                  </a:solidFill>
                  <a:latin typeface="29LT Bukra Bold"/>
                  <a:ea typeface="29LT Bukra Bold"/>
                  <a:cs typeface="29LT Bukra Bold"/>
                  <a:sym typeface="29LT Bukra Bold"/>
                </a:rPr>
                <a:t>JARA NUÑEZ DANIEL ALEJANDRO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008555"/>
              <a:ext cx="4725353" cy="53799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A</a:t>
              </a:r>
              <a:r>
                <a:rPr lang="en-US" sz="2299" u="none" strike="noStrike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rquitecto de Base de Datos: responsable del modelo conceptual (DER), modelo lógico (normalización) y modelo físico (DDL: filegroups, datafiles, tablas, constraints PK/FK/CHECK/UNIQUE/DEFAULT).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59654" y="3316885"/>
            <a:ext cx="3544015" cy="5484215"/>
            <a:chOff x="0" y="0"/>
            <a:chExt cx="4725353" cy="731228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42875"/>
              <a:ext cx="4725353" cy="1274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FFFFFF"/>
                  </a:solidFill>
                  <a:latin typeface="29LT Bukra Bold"/>
                  <a:ea typeface="29LT Bukra Bold"/>
                  <a:cs typeface="29LT Bukra Bold"/>
                  <a:sym typeface="29LT Bukra Bold"/>
                </a:rPr>
                <a:t>LAZARO ROQUE ANGELO MATEO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398955"/>
              <a:ext cx="4725353" cy="591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D</a:t>
              </a:r>
              <a:r>
                <a:rPr lang="en-US" sz="2299" u="none" strike="noStrike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esarrollador de Procedimientos Almacenados: encargado de diseñar, implementar y probar los stored procedures con manejo de errores (TRY-CATCH), transacciones y parámetros de entrada/salida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65619" y="3427307"/>
            <a:ext cx="3544015" cy="4684115"/>
            <a:chOff x="0" y="0"/>
            <a:chExt cx="4725353" cy="6245487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42875"/>
              <a:ext cx="4725353" cy="1274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FFFFFF"/>
                  </a:solidFill>
                  <a:latin typeface="29LT Bukra Bold"/>
                  <a:ea typeface="29LT Bukra Bold"/>
                  <a:cs typeface="29LT Bukra Bold"/>
                  <a:sym typeface="29LT Bukra Bold"/>
                </a:rPr>
                <a:t>PESCETTO JARA JOSE ANDRES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398955"/>
              <a:ext cx="4725353" cy="48465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Esp</a:t>
              </a:r>
              <a:r>
                <a:rPr lang="en-US" sz="2299" u="none" strike="noStrike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ecialista en Optimización y Vistas: responsable de los índices clustered/non-clustered, las vistas (simples e indexadas), y el análisis de rendimiento de las consultas del sistema.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476117"/>
            <a:ext cx="11749802" cy="155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20"/>
              </a:lnSpc>
            </a:pPr>
            <a:r>
              <a:rPr lang="en-US" sz="8000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Integrantes del grupo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2716" y="1821561"/>
            <a:ext cx="2527786" cy="2527786"/>
          </a:xfrm>
          <a:custGeom>
            <a:avLst/>
            <a:gdLst/>
            <a:ahLst/>
            <a:cxnLst/>
            <a:rect l="l" t="t" r="r" b="b"/>
            <a:pathLst>
              <a:path w="2527786" h="2527786">
                <a:moveTo>
                  <a:pt x="0" y="0"/>
                </a:moveTo>
                <a:lnTo>
                  <a:pt x="2527787" y="0"/>
                </a:lnTo>
                <a:lnTo>
                  <a:pt x="2527787" y="2527786"/>
                </a:lnTo>
                <a:lnTo>
                  <a:pt x="0" y="2527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338231" y="2018547"/>
            <a:ext cx="2621465" cy="2621465"/>
          </a:xfrm>
          <a:custGeom>
            <a:avLst/>
            <a:gdLst/>
            <a:ahLst/>
            <a:cxnLst/>
            <a:rect l="l" t="t" r="r" b="b"/>
            <a:pathLst>
              <a:path w="2621465" h="2621465">
                <a:moveTo>
                  <a:pt x="0" y="0"/>
                </a:moveTo>
                <a:lnTo>
                  <a:pt x="2621465" y="0"/>
                </a:lnTo>
                <a:lnTo>
                  <a:pt x="2621465" y="2621465"/>
                </a:lnTo>
                <a:lnTo>
                  <a:pt x="0" y="2621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65176"/>
            <a:ext cx="16230600" cy="155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20"/>
              </a:lnSpc>
            </a:pPr>
            <a:r>
              <a:rPr lang="en-US" sz="8000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El Caso de Negocio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953517" y="2245365"/>
            <a:ext cx="6190483" cy="7012935"/>
            <a:chOff x="0" y="0"/>
            <a:chExt cx="8253978" cy="9350580"/>
          </a:xfrm>
        </p:grpSpPr>
        <p:sp>
          <p:nvSpPr>
            <p:cNvPr id="7" name="TextBox 7"/>
            <p:cNvSpPr txBox="1"/>
            <p:nvPr/>
          </p:nvSpPr>
          <p:spPr>
            <a:xfrm>
              <a:off x="0" y="1043512"/>
              <a:ext cx="8253978" cy="83070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42023" lvl="1" indent="-421011" algn="l">
                <a:lnSpc>
                  <a:spcPts val="5460"/>
                </a:lnSpc>
                <a:buFont typeface="Arial"/>
                <a:buChar char="•"/>
              </a:pPr>
              <a:r>
                <a:rPr lang="en-US" sz="3900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Falta de trazabilidad en los despachos a nivel nacional.</a:t>
              </a:r>
            </a:p>
            <a:p>
              <a:pPr marL="842023" lvl="1" indent="-421011" algn="l">
                <a:lnSpc>
                  <a:spcPts val="5460"/>
                </a:lnSpc>
                <a:buFont typeface="Arial"/>
                <a:buChar char="•"/>
              </a:pPr>
              <a:r>
                <a:rPr lang="en-US" sz="3900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Descontrol en la asignación de flotas y conductores.</a:t>
              </a:r>
            </a:p>
            <a:p>
              <a:pPr marL="842023" lvl="1" indent="-421011" algn="l">
                <a:lnSpc>
                  <a:spcPts val="546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900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Ausencia de métricas de rentabilidad por viaje.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71450"/>
              <a:ext cx="8253978" cy="9629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1"/>
                </a:lnSpc>
              </a:pPr>
              <a:r>
                <a:rPr lang="en-US" sz="3900" b="1">
                  <a:solidFill>
                    <a:srgbClr val="FFFFFF"/>
                  </a:solidFill>
                  <a:latin typeface="29LT Bukra Semi-Bold"/>
                  <a:ea typeface="29LT Bukra Semi-Bold"/>
                  <a:cs typeface="29LT Bukra Semi-Bold"/>
                  <a:sym typeface="29LT Bukra Semi-Bold"/>
                </a:rPr>
                <a:t>EL PROBLEMA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863212" y="2245365"/>
            <a:ext cx="6190483" cy="6327137"/>
            <a:chOff x="0" y="0"/>
            <a:chExt cx="8253978" cy="843618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043513"/>
              <a:ext cx="8253978" cy="7392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42010" lvl="1" indent="-421005" algn="l">
                <a:lnSpc>
                  <a:spcPts val="5459"/>
                </a:lnSpc>
                <a:buFont typeface="Arial"/>
                <a:buChar char="•"/>
              </a:pPr>
              <a:r>
                <a:rPr lang="en-US" sz="3900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Modelo transaccional normalizado (3FN).</a:t>
              </a:r>
            </a:p>
            <a:p>
              <a:pPr marL="842010" lvl="1" indent="-421005" algn="l">
                <a:lnSpc>
                  <a:spcPts val="5459"/>
                </a:lnSpc>
                <a:buFont typeface="Arial"/>
                <a:buChar char="•"/>
              </a:pPr>
              <a:r>
                <a:rPr lang="en-US" sz="3900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Auditoría de incidencias en tiempo real.</a:t>
              </a:r>
            </a:p>
            <a:p>
              <a:pPr marL="842010" lvl="1" indent="-421005" algn="l">
                <a:lnSpc>
                  <a:spcPts val="54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900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Dashboard gerencial automatizado sin latencia.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71450"/>
              <a:ext cx="8253978" cy="962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1"/>
                </a:lnSpc>
              </a:pPr>
              <a:r>
                <a:rPr lang="en-US" sz="3900" b="1">
                  <a:solidFill>
                    <a:srgbClr val="FFFFFF"/>
                  </a:solidFill>
                  <a:latin typeface="29LT Bukra Semi-Bold"/>
                  <a:ea typeface="29LT Bukra Semi-Bold"/>
                  <a:cs typeface="29LT Bukra Semi-Bold"/>
                  <a:sym typeface="29LT Bukra Semi-Bold"/>
                </a:rPr>
                <a:t>LA SOLUCIÓN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739613" y="2695503"/>
            <a:ext cx="11287210" cy="6391383"/>
          </a:xfrm>
          <a:custGeom>
            <a:avLst/>
            <a:gdLst/>
            <a:ahLst/>
            <a:cxnLst/>
            <a:rect l="l" t="t" r="r" b="b"/>
            <a:pathLst>
              <a:path w="11287210" h="6391383">
                <a:moveTo>
                  <a:pt x="0" y="0"/>
                </a:moveTo>
                <a:lnTo>
                  <a:pt x="11287210" y="0"/>
                </a:lnTo>
                <a:lnTo>
                  <a:pt x="11287210" y="6391383"/>
                </a:lnTo>
                <a:lnTo>
                  <a:pt x="0" y="6391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65176"/>
            <a:ext cx="16230600" cy="155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20"/>
              </a:lnSpc>
            </a:pPr>
            <a:r>
              <a:rPr lang="en-US" sz="8000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Modelo Conceptual y Lógico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894842"/>
            <a:ext cx="3891527" cy="736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8" lvl="1" indent="-302264" algn="l">
              <a:lnSpc>
                <a:spcPts val="448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29 entidades estructuradas sin redundancia de datos. </a:t>
            </a:r>
          </a:p>
          <a:p>
            <a:pPr marL="604528" lvl="1" indent="-302264" algn="l">
              <a:lnSpc>
                <a:spcPts val="448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Integridad referencial estricta mediante Foreign Keys (FK).</a:t>
            </a:r>
          </a:p>
          <a:p>
            <a:pPr marL="604528" lvl="1" indent="-302264" algn="l">
              <a:lnSpc>
                <a:spcPts val="448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Restricciones CHECK y UNIQUE para asegurar la calidad de entrada.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61448" y="2403121"/>
            <a:ext cx="15565103" cy="6342780"/>
          </a:xfrm>
          <a:custGeom>
            <a:avLst/>
            <a:gdLst/>
            <a:ahLst/>
            <a:cxnLst/>
            <a:rect l="l" t="t" r="r" b="b"/>
            <a:pathLst>
              <a:path w="15565103" h="6342780">
                <a:moveTo>
                  <a:pt x="0" y="0"/>
                </a:moveTo>
                <a:lnTo>
                  <a:pt x="15565104" y="0"/>
                </a:lnTo>
                <a:lnTo>
                  <a:pt x="15565104" y="6342780"/>
                </a:lnTo>
                <a:lnTo>
                  <a:pt x="0" y="6342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65176"/>
            <a:ext cx="16230600" cy="155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20"/>
              </a:lnSpc>
            </a:pPr>
            <a:r>
              <a:rPr lang="en-US" sz="8000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Modelo Conceptual y Lógico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5472" y="7233774"/>
            <a:ext cx="10632206" cy="2024526"/>
          </a:xfrm>
          <a:custGeom>
            <a:avLst/>
            <a:gdLst/>
            <a:ahLst/>
            <a:cxnLst/>
            <a:rect l="l" t="t" r="r" b="b"/>
            <a:pathLst>
              <a:path w="10632206" h="2024526">
                <a:moveTo>
                  <a:pt x="0" y="0"/>
                </a:moveTo>
                <a:lnTo>
                  <a:pt x="10632206" y="0"/>
                </a:lnTo>
                <a:lnTo>
                  <a:pt x="10632206" y="2024526"/>
                </a:lnTo>
                <a:lnTo>
                  <a:pt x="0" y="2024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39083" y="3430784"/>
            <a:ext cx="4241073" cy="6261031"/>
          </a:xfrm>
          <a:custGeom>
            <a:avLst/>
            <a:gdLst/>
            <a:ahLst/>
            <a:cxnLst/>
            <a:rect l="l" t="t" r="r" b="b"/>
            <a:pathLst>
              <a:path w="4241073" h="6261031">
                <a:moveTo>
                  <a:pt x="0" y="0"/>
                </a:moveTo>
                <a:lnTo>
                  <a:pt x="4241073" y="0"/>
                </a:lnTo>
                <a:lnTo>
                  <a:pt x="4241073" y="6261031"/>
                </a:lnTo>
                <a:lnTo>
                  <a:pt x="0" y="6261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29719"/>
            <a:ext cx="16230600" cy="286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20"/>
              </a:lnSpc>
            </a:pPr>
            <a:r>
              <a:rPr lang="en-US" sz="8000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Modelo Físico (Arquitectura de Almacenamiento)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0056" y="3230759"/>
            <a:ext cx="10983038" cy="3429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8" lvl="1" indent="-302264" algn="l">
              <a:lnSpc>
                <a:spcPts val="448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PRIMARY: Almacenamiento de catálogos maestros y metadatos (OmniRuta_Pri_Data.mdf). </a:t>
            </a:r>
          </a:p>
          <a:p>
            <a:pPr marL="604528" lvl="1" indent="-302264" algn="l">
              <a:lnSpc>
                <a:spcPts val="448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FG_Transaccional: Archivo secundario dedicado al núcleo operativo (Despacho, Encomienda). </a:t>
            </a:r>
          </a:p>
          <a:p>
            <a:pPr marL="604528" lvl="1" indent="-302264" algn="l">
              <a:lnSpc>
                <a:spcPts val="448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FG_Historico: Aislamiento de las tablas de tracking masivo para no afectar la transaccionalidad diaria.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166579" y="1881703"/>
            <a:ext cx="9648420" cy="7646373"/>
          </a:xfrm>
          <a:custGeom>
            <a:avLst/>
            <a:gdLst/>
            <a:ahLst/>
            <a:cxnLst/>
            <a:rect l="l" t="t" r="r" b="b"/>
            <a:pathLst>
              <a:path w="9648420" h="7646373">
                <a:moveTo>
                  <a:pt x="0" y="0"/>
                </a:moveTo>
                <a:lnTo>
                  <a:pt x="9648419" y="0"/>
                </a:lnTo>
                <a:lnTo>
                  <a:pt x="9648419" y="7646373"/>
                </a:lnTo>
                <a:lnTo>
                  <a:pt x="0" y="764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75488" y="632704"/>
            <a:ext cx="16230600" cy="926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2"/>
              </a:lnSpc>
            </a:pPr>
            <a:r>
              <a:rPr lang="en-US" sz="4800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Modelo Físico (Arquitectura de Almacenamiento)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95346" y="1506984"/>
            <a:ext cx="6897308" cy="8012891"/>
          </a:xfrm>
          <a:custGeom>
            <a:avLst/>
            <a:gdLst/>
            <a:ahLst/>
            <a:cxnLst/>
            <a:rect l="l" t="t" r="r" b="b"/>
            <a:pathLst>
              <a:path w="6897308" h="8012891">
                <a:moveTo>
                  <a:pt x="0" y="0"/>
                </a:moveTo>
                <a:lnTo>
                  <a:pt x="6897308" y="0"/>
                </a:lnTo>
                <a:lnTo>
                  <a:pt x="6897308" y="8012892"/>
                </a:lnTo>
                <a:lnTo>
                  <a:pt x="0" y="80128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09600" y="121289"/>
            <a:ext cx="16733042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59"/>
              </a:lnSpc>
              <a:spcBef>
                <a:spcPct val="0"/>
              </a:spcBef>
            </a:pPr>
            <a:r>
              <a:rPr lang="en-US" sz="7100" b="1" dirty="0" err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Arquitectura</a:t>
            </a:r>
            <a:r>
              <a:rPr lang="en-US" sz="7100" b="1" dirty="0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 Empresarial (TOGAF)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11253" y="3171401"/>
            <a:ext cx="11301259" cy="3249112"/>
          </a:xfrm>
          <a:custGeom>
            <a:avLst/>
            <a:gdLst/>
            <a:ahLst/>
            <a:cxnLst/>
            <a:rect l="l" t="t" r="r" b="b"/>
            <a:pathLst>
              <a:path w="11301259" h="3249112">
                <a:moveTo>
                  <a:pt x="0" y="0"/>
                </a:moveTo>
                <a:lnTo>
                  <a:pt x="11301259" y="0"/>
                </a:lnTo>
                <a:lnTo>
                  <a:pt x="11301259" y="3249112"/>
                </a:lnTo>
                <a:lnTo>
                  <a:pt x="0" y="3249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669879" y="6788528"/>
            <a:ext cx="3051964" cy="3051964"/>
          </a:xfrm>
          <a:custGeom>
            <a:avLst/>
            <a:gdLst/>
            <a:ahLst/>
            <a:cxnLst/>
            <a:rect l="l" t="t" r="r" b="b"/>
            <a:pathLst>
              <a:path w="3051964" h="3051964">
                <a:moveTo>
                  <a:pt x="0" y="0"/>
                </a:moveTo>
                <a:lnTo>
                  <a:pt x="3051963" y="0"/>
                </a:lnTo>
                <a:lnTo>
                  <a:pt x="3051963" y="3051964"/>
                </a:lnTo>
                <a:lnTo>
                  <a:pt x="0" y="3051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70844"/>
            <a:ext cx="16230600" cy="278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62"/>
              </a:lnSpc>
            </a:pPr>
            <a:r>
              <a:rPr lang="en-US" sz="7800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Control de Transacciones (Stored Procedures)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5561" y="3023516"/>
            <a:ext cx="4998196" cy="666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5" lvl="1" indent="-334642" algn="l">
              <a:lnSpc>
                <a:spcPts val="3998"/>
              </a:lnSpc>
              <a:buFont typeface="Arial"/>
              <a:buChar char="•"/>
            </a:pPr>
            <a:r>
              <a:rPr lang="en-US" sz="3099" b="1">
                <a:solidFill>
                  <a:srgbClr val="FFFF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Encapsulamiento de 5 procesos operativos clave. </a:t>
            </a:r>
          </a:p>
          <a:p>
            <a:pPr marL="669285" lvl="1" indent="-334642" algn="l">
              <a:lnSpc>
                <a:spcPts val="3998"/>
              </a:lnSpc>
              <a:buFont typeface="Arial"/>
              <a:buChar char="•"/>
            </a:pPr>
            <a:r>
              <a:rPr lang="en-US" sz="3099" b="1">
                <a:solidFill>
                  <a:srgbClr val="FFFF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Bloqueo contra vulnerabilidades de Inyección SQL.</a:t>
            </a:r>
          </a:p>
          <a:p>
            <a:pPr marL="669285" lvl="1" indent="-334642" algn="l">
              <a:lnSpc>
                <a:spcPts val="3998"/>
              </a:lnSpc>
              <a:buFont typeface="Arial"/>
              <a:buChar char="•"/>
            </a:pPr>
            <a:r>
              <a:rPr lang="en-US" sz="3099" b="1">
                <a:solidFill>
                  <a:srgbClr val="FFFF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Implementación de Soft Delete (eliminación lógica) para proteger la auditoría y los despachos históricos.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08835" y="3579417"/>
            <a:ext cx="11301259" cy="5678883"/>
          </a:xfrm>
          <a:custGeom>
            <a:avLst/>
            <a:gdLst/>
            <a:ahLst/>
            <a:cxnLst/>
            <a:rect l="l" t="t" r="r" b="b"/>
            <a:pathLst>
              <a:path w="11301259" h="5678883">
                <a:moveTo>
                  <a:pt x="0" y="0"/>
                </a:moveTo>
                <a:lnTo>
                  <a:pt x="11301259" y="0"/>
                </a:lnTo>
                <a:lnTo>
                  <a:pt x="11301259" y="5678883"/>
                </a:lnTo>
                <a:lnTo>
                  <a:pt x="0" y="56788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70844"/>
            <a:ext cx="16230600" cy="278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62"/>
              </a:lnSpc>
            </a:pPr>
            <a:r>
              <a:rPr lang="en-US" sz="7800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Control de Transacciones (Stored Procedures)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7718996"/>
            <a:ext cx="16230600" cy="1521619"/>
          </a:xfrm>
          <a:custGeom>
            <a:avLst/>
            <a:gdLst/>
            <a:ahLst/>
            <a:cxnLst/>
            <a:rect l="l" t="t" r="r" b="b"/>
            <a:pathLst>
              <a:path w="16230600" h="1521619">
                <a:moveTo>
                  <a:pt x="0" y="0"/>
                </a:moveTo>
                <a:lnTo>
                  <a:pt x="16230600" y="0"/>
                </a:lnTo>
                <a:lnTo>
                  <a:pt x="16230600" y="1521619"/>
                </a:lnTo>
                <a:lnTo>
                  <a:pt x="0" y="1521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88642" y="2308267"/>
            <a:ext cx="2068152" cy="2068152"/>
          </a:xfrm>
          <a:custGeom>
            <a:avLst/>
            <a:gdLst/>
            <a:ahLst/>
            <a:cxnLst/>
            <a:rect l="l" t="t" r="r" b="b"/>
            <a:pathLst>
              <a:path w="2068152" h="2068152">
                <a:moveTo>
                  <a:pt x="0" y="0"/>
                </a:moveTo>
                <a:lnTo>
                  <a:pt x="2068151" y="0"/>
                </a:lnTo>
                <a:lnTo>
                  <a:pt x="2068151" y="2068152"/>
                </a:lnTo>
                <a:lnTo>
                  <a:pt x="0" y="20681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895564" y="2522698"/>
            <a:ext cx="5203794" cy="1639290"/>
          </a:xfrm>
          <a:custGeom>
            <a:avLst/>
            <a:gdLst/>
            <a:ahLst/>
            <a:cxnLst/>
            <a:rect l="l" t="t" r="r" b="b"/>
            <a:pathLst>
              <a:path w="5203794" h="1639290">
                <a:moveTo>
                  <a:pt x="0" y="0"/>
                </a:moveTo>
                <a:lnTo>
                  <a:pt x="5203794" y="0"/>
                </a:lnTo>
                <a:lnTo>
                  <a:pt x="5203794" y="1639290"/>
                </a:lnTo>
                <a:lnTo>
                  <a:pt x="0" y="1639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068918" y="2330296"/>
            <a:ext cx="2046123" cy="204612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90C4D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66689" y="2308267"/>
            <a:ext cx="2046123" cy="204612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90C4D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107950"/>
              <a:ext cx="7112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764851" y="2407251"/>
            <a:ext cx="1892213" cy="1892213"/>
          </a:xfrm>
          <a:custGeom>
            <a:avLst/>
            <a:gdLst/>
            <a:ahLst/>
            <a:cxnLst/>
            <a:rect l="l" t="t" r="r" b="b"/>
            <a:pathLst>
              <a:path w="1892213" h="1892213">
                <a:moveTo>
                  <a:pt x="0" y="0"/>
                </a:moveTo>
                <a:lnTo>
                  <a:pt x="1892213" y="0"/>
                </a:lnTo>
                <a:lnTo>
                  <a:pt x="1892213" y="1892213"/>
                </a:lnTo>
                <a:lnTo>
                  <a:pt x="0" y="18922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462262"/>
            <a:ext cx="16230600" cy="151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62"/>
              </a:lnSpc>
            </a:pPr>
            <a:r>
              <a:rPr lang="en-US" sz="7800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Capa de Rendimiento y Vistas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1563" y="4606607"/>
            <a:ext cx="16160760" cy="2702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l">
              <a:lnSpc>
                <a:spcPts val="3482"/>
              </a:lnSpc>
              <a:buFont typeface="Arial"/>
              <a:buChar char="•"/>
            </a:pPr>
            <a:r>
              <a:rPr lang="en-US" sz="2699" b="1">
                <a:solidFill>
                  <a:srgbClr val="FFFF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Índices Non-Clustered: Aplicados en columnas de alta demanda para acelerar búsquedas. </a:t>
            </a:r>
          </a:p>
          <a:p>
            <a:pPr marL="582927" lvl="1" indent="-291463" algn="l">
              <a:lnSpc>
                <a:spcPts val="3482"/>
              </a:lnSpc>
              <a:buFont typeface="Arial"/>
              <a:buChar char="•"/>
            </a:pPr>
            <a:r>
              <a:rPr lang="en-US" sz="2699" b="1">
                <a:solidFill>
                  <a:srgbClr val="FFFF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Vistas Analíticas: Desnormalización segura (vw_DashboardLogistico) para facilitar la lectura del BI. </a:t>
            </a:r>
          </a:p>
          <a:p>
            <a:pPr marL="582927" lvl="1" indent="-291463" algn="l">
              <a:lnSpc>
                <a:spcPts val="3482"/>
              </a:lnSpc>
              <a:buFont typeface="Arial"/>
              <a:buChar char="•"/>
            </a:pPr>
            <a:r>
              <a:rPr lang="en-US" sz="2699" b="1">
                <a:solidFill>
                  <a:srgbClr val="FFFF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Conectividad Híbrida: Implementación de un túnel seguro TCP con ngrok para exponer el entorno local hacia la nube de Google.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19837" y="4371421"/>
            <a:ext cx="15648327" cy="2562413"/>
          </a:xfrm>
          <a:custGeom>
            <a:avLst/>
            <a:gdLst/>
            <a:ahLst/>
            <a:cxnLst/>
            <a:rect l="l" t="t" r="r" b="b"/>
            <a:pathLst>
              <a:path w="15648327" h="2562413">
                <a:moveTo>
                  <a:pt x="0" y="0"/>
                </a:moveTo>
                <a:lnTo>
                  <a:pt x="15648326" y="0"/>
                </a:lnTo>
                <a:lnTo>
                  <a:pt x="15648326" y="2562414"/>
                </a:lnTo>
                <a:lnTo>
                  <a:pt x="0" y="2562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9837" y="7376013"/>
            <a:ext cx="15648327" cy="2034282"/>
          </a:xfrm>
          <a:custGeom>
            <a:avLst/>
            <a:gdLst/>
            <a:ahLst/>
            <a:cxnLst/>
            <a:rect l="l" t="t" r="r" b="b"/>
            <a:pathLst>
              <a:path w="15648327" h="2034282">
                <a:moveTo>
                  <a:pt x="0" y="0"/>
                </a:moveTo>
                <a:lnTo>
                  <a:pt x="15648326" y="0"/>
                </a:lnTo>
                <a:lnTo>
                  <a:pt x="15648326" y="2034282"/>
                </a:lnTo>
                <a:lnTo>
                  <a:pt x="0" y="2034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619284" y="615307"/>
            <a:ext cx="3178479" cy="3178479"/>
          </a:xfrm>
          <a:custGeom>
            <a:avLst/>
            <a:gdLst/>
            <a:ahLst/>
            <a:cxnLst/>
            <a:rect l="l" t="t" r="r" b="b"/>
            <a:pathLst>
              <a:path w="3178479" h="3178479">
                <a:moveTo>
                  <a:pt x="0" y="0"/>
                </a:moveTo>
                <a:lnTo>
                  <a:pt x="3178479" y="0"/>
                </a:lnTo>
                <a:lnTo>
                  <a:pt x="3178479" y="3178479"/>
                </a:lnTo>
                <a:lnTo>
                  <a:pt x="0" y="31784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0750"/>
            <a:ext cx="10933854" cy="4063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62"/>
              </a:lnSpc>
            </a:pPr>
            <a:r>
              <a:rPr lang="en-US" sz="7800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Capa de Rendimiento y Vistas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37844"/>
            <a:ext cx="16230600" cy="1241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6"/>
              </a:lnSpc>
            </a:pPr>
            <a:r>
              <a:rPr lang="en-US" sz="6400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Dashboard Gerencial OmniRuta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95D4A1-434E-0F89-CFC8-16ED2968D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1279140"/>
            <a:ext cx="10744200" cy="80850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63163" y="1903856"/>
            <a:ext cx="12676478" cy="735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7895" lvl="1" indent="-528947" algn="l">
              <a:lnSpc>
                <a:spcPts val="6320"/>
              </a:lnSpc>
              <a:buFont typeface="Arial"/>
              <a:buChar char="•"/>
            </a:pPr>
            <a:r>
              <a:rPr lang="en-US" sz="4899" b="1">
                <a:solidFill>
                  <a:srgbClr val="FFFF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La distribución física en filegroups garantiza la escalabilidad del sistema.</a:t>
            </a:r>
          </a:p>
          <a:p>
            <a:pPr marL="1057895" lvl="1" indent="-528947" algn="l">
              <a:lnSpc>
                <a:spcPts val="6320"/>
              </a:lnSpc>
              <a:buFont typeface="Arial"/>
              <a:buChar char="•"/>
            </a:pPr>
            <a:r>
              <a:rPr lang="en-US" sz="4899" b="1">
                <a:solidFill>
                  <a:srgbClr val="FFFF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El motor de base de datos asume la responsabilidad de la integridad de la información empresarial.</a:t>
            </a:r>
          </a:p>
          <a:p>
            <a:pPr marL="1057895" lvl="1" indent="-528947" algn="l">
              <a:lnSpc>
                <a:spcPts val="6320"/>
              </a:lnSpc>
              <a:buFont typeface="Arial"/>
              <a:buChar char="•"/>
            </a:pPr>
            <a:r>
              <a:rPr lang="en-US" sz="4899" b="1">
                <a:solidFill>
                  <a:srgbClr val="FFFF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La visualización interactiva acelera el tiempo de respuesta frente a anomalías operativas.</a:t>
            </a:r>
          </a:p>
        </p:txBody>
      </p:sp>
      <p:sp>
        <p:nvSpPr>
          <p:cNvPr id="4" name="Freeform 4"/>
          <p:cNvSpPr/>
          <p:nvPr/>
        </p:nvSpPr>
        <p:spPr>
          <a:xfrm>
            <a:off x="13739641" y="2911015"/>
            <a:ext cx="3983297" cy="3983297"/>
          </a:xfrm>
          <a:custGeom>
            <a:avLst/>
            <a:gdLst/>
            <a:ahLst/>
            <a:cxnLst/>
            <a:rect l="l" t="t" r="r" b="b"/>
            <a:pathLst>
              <a:path w="3983297" h="3983297">
                <a:moveTo>
                  <a:pt x="0" y="0"/>
                </a:moveTo>
                <a:lnTo>
                  <a:pt x="3983297" y="0"/>
                </a:lnTo>
                <a:lnTo>
                  <a:pt x="3983297" y="3983297"/>
                </a:lnTo>
                <a:lnTo>
                  <a:pt x="0" y="3983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63163" y="243869"/>
            <a:ext cx="16230600" cy="155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20"/>
              </a:lnSpc>
            </a:pPr>
            <a:r>
              <a:rPr lang="en-US" sz="8000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Conclusiones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158383" y="3857518"/>
            <a:ext cx="5634675" cy="5634675"/>
          </a:xfrm>
          <a:custGeom>
            <a:avLst/>
            <a:gdLst/>
            <a:ahLst/>
            <a:cxnLst/>
            <a:rect l="l" t="t" r="r" b="b"/>
            <a:pathLst>
              <a:path w="5634675" h="5634675">
                <a:moveTo>
                  <a:pt x="0" y="0"/>
                </a:moveTo>
                <a:lnTo>
                  <a:pt x="5634675" y="0"/>
                </a:lnTo>
                <a:lnTo>
                  <a:pt x="5634675" y="5634675"/>
                </a:lnTo>
                <a:lnTo>
                  <a:pt x="0" y="5634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94578" y="1654728"/>
            <a:ext cx="15664722" cy="1830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Escanea el QR para interactuar con el Dashboard.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(Usar cuenta institucional)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3519" y="336139"/>
            <a:ext cx="15840962" cy="174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10"/>
              </a:lnSpc>
            </a:pPr>
            <a:r>
              <a:rPr lang="en-US" sz="9000" b="1">
                <a:solidFill>
                  <a:srgbClr val="38B6FF"/>
                </a:solidFill>
                <a:latin typeface="29LT Bukra Semi-Bold"/>
                <a:ea typeface="29LT Bukra Semi-Bold"/>
                <a:cs typeface="29LT Bukra Semi-Bold"/>
                <a:sym typeface="29LT Bukra Semi-Bold"/>
              </a:rPr>
              <a:t>¡Gracias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518</Words>
  <Application>Microsoft Office PowerPoint</Application>
  <PresentationFormat>Personalizado</PresentationFormat>
  <Paragraphs>51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29LT Bukra Semi-Bold</vt:lpstr>
      <vt:lpstr>29LT Bukra</vt:lpstr>
      <vt:lpstr>29LT Bukra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OmniRuta</dc:title>
  <cp:lastModifiedBy>Bryan Huertas</cp:lastModifiedBy>
  <cp:revision>2</cp:revision>
  <dcterms:created xsi:type="dcterms:W3CDTF">2006-08-16T00:00:00Z</dcterms:created>
  <dcterms:modified xsi:type="dcterms:W3CDTF">2026-06-05T21:08:33Z</dcterms:modified>
  <dc:identifier>DAHLnbI0ffg</dc:identifier>
</cp:coreProperties>
</file>