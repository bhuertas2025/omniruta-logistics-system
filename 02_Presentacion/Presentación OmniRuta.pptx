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x="18288000" cy="10287000"/>
  <p:notesSz cx="6858000" cy="9144000"/>
  <p:embeddedFontLst>
    <p:embeddedFont>
      <p:font typeface="29LT Bukra Semi-Bold" charset="1" panose="020B0704040000000004"/>
      <p:regular r:id="rId21"/>
    </p:embeddedFont>
    <p:embeddedFont>
      <p:font typeface="29LT Bukra" charset="1" panose="020B0504040000000004"/>
      <p:regular r:id="rId22"/>
    </p:embeddedFont>
    <p:embeddedFont>
      <p:font typeface="29LT Bukra Bold" charset="1" panose="020B0804040000000004"/>
      <p:regular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jpeg" Type="http://schemas.openxmlformats.org/officeDocument/2006/relationships/image"/><Relationship Id="rId3" Target="../media/image5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jpeg" Type="http://schemas.openxmlformats.org/officeDocument/2006/relationships/image"/><Relationship Id="rId3" Target="../media/image6.png" Type="http://schemas.openxmlformats.org/officeDocument/2006/relationships/image"/><Relationship Id="rId4" Target="../media/image7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jpeg" Type="http://schemas.openxmlformats.org/officeDocument/2006/relationships/image"/><Relationship Id="rId3" Target="../media/image8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jpeg" Type="http://schemas.openxmlformats.org/officeDocument/2006/relationships/image"/><Relationship Id="rId3" Target="../media/image9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jpeg" Type="http://schemas.openxmlformats.org/officeDocument/2006/relationships/image"/><Relationship Id="rId3" Target="../media/image10.png" Type="http://schemas.openxmlformats.org/officeDocument/2006/relationships/image"/><Relationship Id="rId4" Target="../media/image11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jpeg" Type="http://schemas.openxmlformats.org/officeDocument/2006/relationships/image"/><Relationship Id="rId3" Target="../media/image12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13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14.png" Type="http://schemas.openxmlformats.org/officeDocument/2006/relationships/image"/><Relationship Id="rId4" Target="../media/image15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16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17.png" Type="http://schemas.openxmlformats.org/officeDocument/2006/relationships/image"/><Relationship Id="rId4" Target="../media/image18.png" Type="http://schemas.openxmlformats.org/officeDocument/2006/relationships/image"/><Relationship Id="rId5" Target="../media/image19.png" Type="http://schemas.openxmlformats.org/officeDocument/2006/relationships/image"/><Relationship Id="rId6" Target="../media/image20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1.png" Type="http://schemas.openxmlformats.org/officeDocument/2006/relationships/image"/><Relationship Id="rId4" Target="../media/image22.png" Type="http://schemas.openxmlformats.org/officeDocument/2006/relationships/image"/><Relationship Id="rId5" Target="../media/image23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4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jpeg" Type="http://schemas.openxmlformats.org/officeDocument/2006/relationships/image"/><Relationship Id="rId3" Target="../media/image25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jpeg" Type="http://schemas.openxmlformats.org/officeDocument/2006/relationships/image"/><Relationship Id="rId3" Target="../media/image26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2492872" y="591028"/>
            <a:ext cx="4552472" cy="4552472"/>
          </a:xfrm>
          <a:custGeom>
            <a:avLst/>
            <a:gdLst/>
            <a:ahLst/>
            <a:cxnLst/>
            <a:rect r="r" b="b" t="t" l="l"/>
            <a:pathLst>
              <a:path h="4552472" w="4552472">
                <a:moveTo>
                  <a:pt x="0" y="0"/>
                </a:moveTo>
                <a:lnTo>
                  <a:pt x="4552472" y="0"/>
                </a:lnTo>
                <a:lnTo>
                  <a:pt x="4552472" y="4552472"/>
                </a:lnTo>
                <a:lnTo>
                  <a:pt x="0" y="455247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0698210" y="5625938"/>
            <a:ext cx="4453876" cy="4453876"/>
          </a:xfrm>
          <a:custGeom>
            <a:avLst/>
            <a:gdLst/>
            <a:ahLst/>
            <a:cxnLst/>
            <a:rect r="r" b="b" t="t" l="l"/>
            <a:pathLst>
              <a:path h="4453876" w="4453876">
                <a:moveTo>
                  <a:pt x="0" y="0"/>
                </a:moveTo>
                <a:lnTo>
                  <a:pt x="4453876" y="0"/>
                </a:lnTo>
                <a:lnTo>
                  <a:pt x="4453876" y="4453876"/>
                </a:lnTo>
                <a:lnTo>
                  <a:pt x="0" y="445387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897376" y="469470"/>
            <a:ext cx="10436845" cy="39517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805"/>
              </a:lnSpc>
            </a:pPr>
            <a:r>
              <a:rPr lang="en-US" sz="7601" b="true">
                <a:solidFill>
                  <a:srgbClr val="38B6FF"/>
                </a:solidFill>
                <a:latin typeface="29LT Bukra Semi-Bold"/>
                <a:ea typeface="29LT Bukra Semi-Bold"/>
                <a:cs typeface="29LT Bukra Semi-Bold"/>
                <a:sym typeface="29LT Bukra Semi-Bold"/>
              </a:rPr>
              <a:t>OmniRuta: Sistema Logístico Integral y Analítica de Datos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897376" y="4458613"/>
            <a:ext cx="9648899" cy="28517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096"/>
              </a:lnSpc>
            </a:pPr>
            <a:r>
              <a:rPr lang="en-US" sz="5501">
                <a:solidFill>
                  <a:srgbClr val="FFFFFF"/>
                </a:solidFill>
                <a:latin typeface="29LT Bukra"/>
                <a:ea typeface="29LT Bukra"/>
                <a:cs typeface="29LT Bukra"/>
                <a:sym typeface="29LT Bukra"/>
              </a:rPr>
              <a:t>Arquitectura Empresarial Inteligente (TOGAF 10 ADM)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97376" y="7700476"/>
            <a:ext cx="9977210" cy="1273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45"/>
              </a:lnSpc>
            </a:pPr>
            <a:r>
              <a:rPr lang="en-US" sz="3601" b="true">
                <a:solidFill>
                  <a:srgbClr val="90C4D9"/>
                </a:solidFill>
                <a:latin typeface="29LT Bukra Bold"/>
                <a:ea typeface="29LT Bukra Bold"/>
                <a:cs typeface="29LT Bukra Bold"/>
                <a:sym typeface="29LT Bukra Bold"/>
              </a:rPr>
              <a:t>Administración y Gestión de Base de Datos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897376" y="9192839"/>
            <a:ext cx="6276760" cy="4857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6"/>
              </a:lnSpc>
            </a:pPr>
            <a:r>
              <a:rPr lang="en-US" sz="2501" b="true">
                <a:solidFill>
                  <a:srgbClr val="D7BE28"/>
                </a:solidFill>
                <a:latin typeface="29LT Bukra Bold"/>
                <a:ea typeface="29LT Bukra Bold"/>
                <a:cs typeface="29LT Bukra Bold"/>
                <a:sym typeface="29LT Bukra Bold"/>
              </a:rPr>
              <a:t>Ingeniería de Sistemas e Informática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3915552" y="261145"/>
            <a:ext cx="2798544" cy="2798544"/>
          </a:xfrm>
          <a:custGeom>
            <a:avLst/>
            <a:gdLst/>
            <a:ahLst/>
            <a:cxnLst/>
            <a:rect r="r" b="b" t="t" l="l"/>
            <a:pathLst>
              <a:path h="2798544" w="2798544">
                <a:moveTo>
                  <a:pt x="0" y="0"/>
                </a:moveTo>
                <a:lnTo>
                  <a:pt x="2798543" y="0"/>
                </a:lnTo>
                <a:lnTo>
                  <a:pt x="2798543" y="2798543"/>
                </a:lnTo>
                <a:lnTo>
                  <a:pt x="0" y="279854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1028700" y="3316885"/>
            <a:ext cx="3544015" cy="5941415"/>
            <a:chOff x="0" y="0"/>
            <a:chExt cx="4725353" cy="7921887"/>
          </a:xfrm>
        </p:grpSpPr>
        <p:sp>
          <p:nvSpPr>
            <p:cNvPr name="TextBox 5" id="5"/>
            <p:cNvSpPr txBox="true"/>
            <p:nvPr/>
          </p:nvSpPr>
          <p:spPr>
            <a:xfrm rot="0">
              <a:off x="0" y="-142875"/>
              <a:ext cx="4725353" cy="188362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639"/>
                </a:lnSpc>
                <a:spcBef>
                  <a:spcPct val="0"/>
                </a:spcBef>
              </a:pPr>
              <a:r>
                <a:rPr lang="en-US" b="true" sz="2599">
                  <a:solidFill>
                    <a:srgbClr val="FFFFFF"/>
                  </a:solidFill>
                  <a:latin typeface="29LT Bukra Bold"/>
                  <a:ea typeface="29LT Bukra Bold"/>
                  <a:cs typeface="29LT Bukra Bold"/>
                  <a:sym typeface="29LT Bukra Bold"/>
                </a:rPr>
                <a:t>HUERTAS</a:t>
              </a:r>
              <a:r>
                <a:rPr lang="en-US" b="true" sz="2599">
                  <a:solidFill>
                    <a:srgbClr val="FFFFFF"/>
                  </a:solidFill>
                  <a:latin typeface="29LT Bukra Bold"/>
                  <a:ea typeface="29LT Bukra Bold"/>
                  <a:cs typeface="29LT Bukra Bold"/>
                  <a:sym typeface="29LT Bukra Bold"/>
                </a:rPr>
                <a:t> PASCACIO BRYAN CRISTOPHER</a:t>
              </a:r>
            </a:p>
          </p:txBody>
        </p:sp>
        <p:sp>
          <p:nvSpPr>
            <p:cNvPr name="TextBox 6" id="6"/>
            <p:cNvSpPr txBox="true"/>
            <p:nvPr/>
          </p:nvSpPr>
          <p:spPr>
            <a:xfrm rot="0">
              <a:off x="0" y="2008555"/>
              <a:ext cx="4725353" cy="591333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219"/>
                </a:lnSpc>
                <a:spcBef>
                  <a:spcPct val="0"/>
                </a:spcBef>
              </a:pPr>
              <a:r>
                <a:rPr lang="en-US" sz="2299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Anal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is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ta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 d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e Dat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o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s y Dashb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o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a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r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d: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 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encargado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 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d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e conect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a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r 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l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a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 BD a la herram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i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enta BI 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s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elec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ci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o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n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ada, diseñar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 el 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D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a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shboard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 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co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n 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las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 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v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isu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a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l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iz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ac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i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o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n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e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s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 e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 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ind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icado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res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 d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e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l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 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p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r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oce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s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o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 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de n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e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goci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o, 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y elabo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r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ar la documentac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i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ó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n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 técn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i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c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a 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d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e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l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 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s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is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te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m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a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4934665" y="3316885"/>
            <a:ext cx="3544015" cy="5541365"/>
            <a:chOff x="0" y="0"/>
            <a:chExt cx="4725353" cy="7388487"/>
          </a:xfrm>
        </p:grpSpPr>
        <p:sp>
          <p:nvSpPr>
            <p:cNvPr name="TextBox 8" id="8"/>
            <p:cNvSpPr txBox="true"/>
            <p:nvPr/>
          </p:nvSpPr>
          <p:spPr>
            <a:xfrm rot="0">
              <a:off x="0" y="-142875"/>
              <a:ext cx="4725353" cy="188362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639"/>
                </a:lnSpc>
                <a:spcBef>
                  <a:spcPct val="0"/>
                </a:spcBef>
              </a:pPr>
              <a:r>
                <a:rPr lang="en-US" b="true" sz="2599">
                  <a:solidFill>
                    <a:srgbClr val="FFFFFF"/>
                  </a:solidFill>
                  <a:latin typeface="29LT Bukra Bold"/>
                  <a:ea typeface="29LT Bukra Bold"/>
                  <a:cs typeface="29LT Bukra Bold"/>
                  <a:sym typeface="29LT Bukra Bold"/>
                </a:rPr>
                <a:t>JARA</a:t>
              </a:r>
              <a:r>
                <a:rPr lang="en-US" b="true" sz="2599">
                  <a:solidFill>
                    <a:srgbClr val="FFFFFF"/>
                  </a:solidFill>
                  <a:latin typeface="29LT Bukra Bold"/>
                  <a:ea typeface="29LT Bukra Bold"/>
                  <a:cs typeface="29LT Bukra Bold"/>
                  <a:sym typeface="29LT Bukra Bold"/>
                </a:rPr>
                <a:t> NUÑEZ DANIEL ALEJANDRO</a:t>
              </a: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0" y="2008555"/>
              <a:ext cx="4725353" cy="537993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219"/>
                </a:lnSpc>
                <a:spcBef>
                  <a:spcPct val="0"/>
                </a:spcBef>
              </a:pPr>
              <a:r>
                <a:rPr lang="en-US" sz="2299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A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r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quit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e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cto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 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de Ba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s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e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 d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e Dat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o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s: resp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o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nsable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 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del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 m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od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e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lo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 conce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p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tual 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(DER),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 m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od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el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o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 l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ógi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co 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(norma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li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zació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n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) y mo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d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elo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 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fí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s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ico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 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(DDL: f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ile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gr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o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ups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, 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data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fil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es, tab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la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s,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 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cons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t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ra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i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nt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s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 PK/FK/CHECK/UNIQUE/DEFAULT)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.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8659654" y="3316885"/>
            <a:ext cx="3544015" cy="5484215"/>
            <a:chOff x="0" y="0"/>
            <a:chExt cx="4725353" cy="7312287"/>
          </a:xfrm>
        </p:grpSpPr>
        <p:sp>
          <p:nvSpPr>
            <p:cNvPr name="TextBox 11" id="11"/>
            <p:cNvSpPr txBox="true"/>
            <p:nvPr/>
          </p:nvSpPr>
          <p:spPr>
            <a:xfrm rot="0">
              <a:off x="0" y="-142875"/>
              <a:ext cx="4725353" cy="127402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639"/>
                </a:lnSpc>
                <a:spcBef>
                  <a:spcPct val="0"/>
                </a:spcBef>
              </a:pPr>
              <a:r>
                <a:rPr lang="en-US" b="true" sz="2599">
                  <a:solidFill>
                    <a:srgbClr val="FFFFFF"/>
                  </a:solidFill>
                  <a:latin typeface="29LT Bukra Bold"/>
                  <a:ea typeface="29LT Bukra Bold"/>
                  <a:cs typeface="29LT Bukra Bold"/>
                  <a:sym typeface="29LT Bukra Bold"/>
                </a:rPr>
                <a:t>LAZARO</a:t>
              </a:r>
              <a:r>
                <a:rPr lang="en-US" b="true" sz="2599">
                  <a:solidFill>
                    <a:srgbClr val="FFFFFF"/>
                  </a:solidFill>
                  <a:latin typeface="29LT Bukra Bold"/>
                  <a:ea typeface="29LT Bukra Bold"/>
                  <a:cs typeface="29LT Bukra Bold"/>
                  <a:sym typeface="29LT Bukra Bold"/>
                </a:rPr>
                <a:t> ROQUE ANGELO MATEO</a:t>
              </a:r>
            </a:p>
          </p:txBody>
        </p:sp>
        <p:sp>
          <p:nvSpPr>
            <p:cNvPr name="TextBox 12" id="12"/>
            <p:cNvSpPr txBox="true"/>
            <p:nvPr/>
          </p:nvSpPr>
          <p:spPr>
            <a:xfrm rot="0">
              <a:off x="0" y="1398955"/>
              <a:ext cx="4725353" cy="591333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219"/>
                </a:lnSpc>
                <a:spcBef>
                  <a:spcPct val="0"/>
                </a:spcBef>
              </a:pPr>
              <a:r>
                <a:rPr lang="en-US" sz="2299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D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es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arr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ol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lad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or 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d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e 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Pr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ocedi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m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i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ento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s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 Alma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c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e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na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dos: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 en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cargado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 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d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e 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d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is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eñ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ar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,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 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imp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le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m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en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tar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 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y p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r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ob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a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r lo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s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 stor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e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d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 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p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r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oced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u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re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s 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con manejo de 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e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rr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o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res (TRY-CATCH)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, 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t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r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ansacc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i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o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n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es y p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a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rámetros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 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d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e 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entrada/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s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alida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2565619" y="3427307"/>
            <a:ext cx="3544015" cy="4684115"/>
            <a:chOff x="0" y="0"/>
            <a:chExt cx="4725353" cy="6245487"/>
          </a:xfrm>
        </p:grpSpPr>
        <p:sp>
          <p:nvSpPr>
            <p:cNvPr name="TextBox 14" id="14"/>
            <p:cNvSpPr txBox="true"/>
            <p:nvPr/>
          </p:nvSpPr>
          <p:spPr>
            <a:xfrm rot="0">
              <a:off x="0" y="-142875"/>
              <a:ext cx="4725353" cy="127402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639"/>
                </a:lnSpc>
                <a:spcBef>
                  <a:spcPct val="0"/>
                </a:spcBef>
              </a:pPr>
              <a:r>
                <a:rPr lang="en-US" b="true" sz="2599">
                  <a:solidFill>
                    <a:srgbClr val="FFFFFF"/>
                  </a:solidFill>
                  <a:latin typeface="29LT Bukra Bold"/>
                  <a:ea typeface="29LT Bukra Bold"/>
                  <a:cs typeface="29LT Bukra Bold"/>
                  <a:sym typeface="29LT Bukra Bold"/>
                </a:rPr>
                <a:t>PESCETTO</a:t>
              </a:r>
              <a:r>
                <a:rPr lang="en-US" b="true" sz="2599">
                  <a:solidFill>
                    <a:srgbClr val="FFFFFF"/>
                  </a:solidFill>
                  <a:latin typeface="29LT Bukra Bold"/>
                  <a:ea typeface="29LT Bukra Bold"/>
                  <a:cs typeface="29LT Bukra Bold"/>
                  <a:sym typeface="29LT Bukra Bold"/>
                </a:rPr>
                <a:t> JARA JOSE ANDRES</a:t>
              </a:r>
            </a:p>
          </p:txBody>
        </p:sp>
        <p:sp>
          <p:nvSpPr>
            <p:cNvPr name="TextBox 15" id="15"/>
            <p:cNvSpPr txBox="true"/>
            <p:nvPr/>
          </p:nvSpPr>
          <p:spPr>
            <a:xfrm rot="0">
              <a:off x="0" y="1398955"/>
              <a:ext cx="4725353" cy="484653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219"/>
                </a:lnSpc>
                <a:spcBef>
                  <a:spcPct val="0"/>
                </a:spcBef>
              </a:pPr>
              <a:r>
                <a:rPr lang="en-US" sz="2299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Esp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e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c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i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a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l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i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sta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 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en 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O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p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t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i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miza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ci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ó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n 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y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 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Vis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ta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s: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 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r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e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spo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n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sable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 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d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e 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los í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n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d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i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ce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s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 c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lu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stered/non-c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l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ustered, 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la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s vistas (si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mp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l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e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s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 e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 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inde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xada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s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), y 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e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l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 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anál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is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i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s 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d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e r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e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n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d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i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miento de 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l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as consu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l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t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a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s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 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d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e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l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 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s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is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te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m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a</a:t>
              </a:r>
              <a:r>
                <a:rPr lang="en-US" sz="2299" strike="noStrike" u="none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.</a:t>
              </a: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1028700" y="476117"/>
            <a:ext cx="11749802" cy="15563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320"/>
              </a:lnSpc>
            </a:pPr>
            <a:r>
              <a:rPr lang="en-US" b="true" sz="8000">
                <a:solidFill>
                  <a:srgbClr val="38B6FF"/>
                </a:solidFill>
                <a:latin typeface="29LT Bukra Semi-Bold"/>
                <a:ea typeface="29LT Bukra Semi-Bold"/>
                <a:cs typeface="29LT Bukra Semi-Bold"/>
                <a:sym typeface="29LT Bukra Semi-Bold"/>
              </a:rPr>
              <a:t>Integrantes del grupo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622716" y="1821561"/>
            <a:ext cx="2527786" cy="2527786"/>
          </a:xfrm>
          <a:custGeom>
            <a:avLst/>
            <a:gdLst/>
            <a:ahLst/>
            <a:cxnLst/>
            <a:rect r="r" b="b" t="t" l="l"/>
            <a:pathLst>
              <a:path h="2527786" w="2527786">
                <a:moveTo>
                  <a:pt x="0" y="0"/>
                </a:moveTo>
                <a:lnTo>
                  <a:pt x="2527787" y="0"/>
                </a:lnTo>
                <a:lnTo>
                  <a:pt x="2527787" y="2527786"/>
                </a:lnTo>
                <a:lnTo>
                  <a:pt x="0" y="25277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5338231" y="2018547"/>
            <a:ext cx="2621465" cy="2621465"/>
          </a:xfrm>
          <a:custGeom>
            <a:avLst/>
            <a:gdLst/>
            <a:ahLst/>
            <a:cxnLst/>
            <a:rect r="r" b="b" t="t" l="l"/>
            <a:pathLst>
              <a:path h="2621465" w="2621465">
                <a:moveTo>
                  <a:pt x="0" y="0"/>
                </a:moveTo>
                <a:lnTo>
                  <a:pt x="2621465" y="0"/>
                </a:lnTo>
                <a:lnTo>
                  <a:pt x="2621465" y="2621465"/>
                </a:lnTo>
                <a:lnTo>
                  <a:pt x="0" y="26214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028700" y="265176"/>
            <a:ext cx="16230600" cy="15563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320"/>
              </a:lnSpc>
            </a:pPr>
            <a:r>
              <a:rPr lang="en-US" b="true" sz="8000">
                <a:solidFill>
                  <a:srgbClr val="38B6FF"/>
                </a:solidFill>
                <a:latin typeface="29LT Bukra Semi-Bold"/>
                <a:ea typeface="29LT Bukra Semi-Bold"/>
                <a:cs typeface="29LT Bukra Semi-Bold"/>
                <a:sym typeface="29LT Bukra Semi-Bold"/>
              </a:rPr>
              <a:t>El Caso de Negocio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2953517" y="2245365"/>
            <a:ext cx="6190483" cy="7012935"/>
            <a:chOff x="0" y="0"/>
            <a:chExt cx="8253978" cy="9350580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1043512"/>
              <a:ext cx="8253978" cy="830706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842023" indent="-421011" lvl="1">
                <a:lnSpc>
                  <a:spcPts val="5460"/>
                </a:lnSpc>
                <a:buFont typeface="Arial"/>
                <a:buChar char="•"/>
              </a:pPr>
              <a:r>
                <a:rPr lang="en-US" sz="3900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Falta de trazabilidad en los despachos a nivel nacional.</a:t>
              </a:r>
            </a:p>
            <a:p>
              <a:pPr algn="l" marL="842023" indent="-421011" lvl="1">
                <a:lnSpc>
                  <a:spcPts val="5460"/>
                </a:lnSpc>
                <a:buFont typeface="Arial"/>
                <a:buChar char="•"/>
              </a:pPr>
              <a:r>
                <a:rPr lang="en-US" sz="3900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Descontrol en la asignación de flotas y conductores.</a:t>
              </a:r>
            </a:p>
            <a:p>
              <a:pPr algn="l" marL="842023" indent="-421011" lvl="1">
                <a:lnSpc>
                  <a:spcPts val="5460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3900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Ausencia de métricas de rentabilidad por viaje.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-171450"/>
              <a:ext cx="8253978" cy="96291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031"/>
                </a:lnSpc>
              </a:pPr>
              <a:r>
                <a:rPr lang="en-US" sz="3900" b="true">
                  <a:solidFill>
                    <a:srgbClr val="FFFFFF"/>
                  </a:solidFill>
                  <a:latin typeface="29LT Bukra Semi-Bold"/>
                  <a:ea typeface="29LT Bukra Semi-Bold"/>
                  <a:cs typeface="29LT Bukra Semi-Bold"/>
                  <a:sym typeface="29LT Bukra Semi-Bold"/>
                </a:rPr>
                <a:t>EL PROBLEMA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8863212" y="2245365"/>
            <a:ext cx="6190483" cy="6327137"/>
            <a:chOff x="0" y="0"/>
            <a:chExt cx="8253978" cy="8436183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1043513"/>
              <a:ext cx="8253978" cy="73926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842010" indent="-421005" lvl="1">
                <a:lnSpc>
                  <a:spcPts val="5459"/>
                </a:lnSpc>
                <a:buFont typeface="Arial"/>
                <a:buChar char="•"/>
              </a:pPr>
              <a:r>
                <a:rPr lang="en-US" sz="3900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Modelo transaccional normalizado (3FN).</a:t>
              </a:r>
            </a:p>
            <a:p>
              <a:pPr algn="l" marL="842010" indent="-421005" lvl="1">
                <a:lnSpc>
                  <a:spcPts val="5459"/>
                </a:lnSpc>
                <a:buFont typeface="Arial"/>
                <a:buChar char="•"/>
              </a:pPr>
              <a:r>
                <a:rPr lang="en-US" sz="3900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Audit</a:t>
              </a:r>
              <a:r>
                <a:rPr lang="en-US" sz="3900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oría de incidencias en tiempo real.</a:t>
              </a:r>
            </a:p>
            <a:p>
              <a:pPr algn="l" marL="842010" indent="-421005" lvl="1">
                <a:lnSpc>
                  <a:spcPts val="5459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3900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Da</a:t>
              </a:r>
              <a:r>
                <a:rPr lang="en-US" sz="3900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shboard gerencial automatizado sin latencia.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-171450"/>
              <a:ext cx="8253978" cy="96291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031"/>
                </a:lnSpc>
              </a:pPr>
              <a:r>
                <a:rPr lang="en-US" sz="3900" b="true">
                  <a:solidFill>
                    <a:srgbClr val="FFFFFF"/>
                  </a:solidFill>
                  <a:latin typeface="29LT Bukra Semi-Bold"/>
                  <a:ea typeface="29LT Bukra Semi-Bold"/>
                  <a:cs typeface="29LT Bukra Semi-Bold"/>
                  <a:sym typeface="29LT Bukra Semi-Bold"/>
                </a:rPr>
                <a:t>LA SOLUCIÓN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5739613" y="2695503"/>
            <a:ext cx="11287210" cy="6391383"/>
          </a:xfrm>
          <a:custGeom>
            <a:avLst/>
            <a:gdLst/>
            <a:ahLst/>
            <a:cxnLst/>
            <a:rect r="r" b="b" t="t" l="l"/>
            <a:pathLst>
              <a:path h="6391383" w="11287210">
                <a:moveTo>
                  <a:pt x="0" y="0"/>
                </a:moveTo>
                <a:lnTo>
                  <a:pt x="11287210" y="0"/>
                </a:lnTo>
                <a:lnTo>
                  <a:pt x="11287210" y="6391383"/>
                </a:lnTo>
                <a:lnTo>
                  <a:pt x="0" y="639138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028700" y="265176"/>
            <a:ext cx="16230600" cy="15563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320"/>
              </a:lnSpc>
            </a:pPr>
            <a:r>
              <a:rPr lang="en-US" b="true" sz="8000">
                <a:solidFill>
                  <a:srgbClr val="38B6FF"/>
                </a:solidFill>
                <a:latin typeface="29LT Bukra Semi-Bold"/>
                <a:ea typeface="29LT Bukra Semi-Bold"/>
                <a:cs typeface="29LT Bukra Semi-Bold"/>
                <a:sym typeface="29LT Bukra Semi-Bold"/>
              </a:rPr>
              <a:t>Modelo Conceptual y Lógico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1894842"/>
            <a:ext cx="3891527" cy="73634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04528" indent="-302264" lvl="1">
              <a:lnSpc>
                <a:spcPts val="4480"/>
              </a:lnSpc>
              <a:buFont typeface="Arial"/>
              <a:buChar char="•"/>
            </a:pPr>
            <a:r>
              <a:rPr lang="en-US" sz="2800">
                <a:solidFill>
                  <a:srgbClr val="FFFFFF"/>
                </a:solidFill>
                <a:latin typeface="29LT Bukra"/>
                <a:ea typeface="29LT Bukra"/>
                <a:cs typeface="29LT Bukra"/>
                <a:sym typeface="29LT Bukra"/>
              </a:rPr>
              <a:t>29 entidades estructuradas sin redundancia de datos. </a:t>
            </a:r>
          </a:p>
          <a:p>
            <a:pPr algn="l" marL="604528" indent="-302264" lvl="1">
              <a:lnSpc>
                <a:spcPts val="4480"/>
              </a:lnSpc>
              <a:buFont typeface="Arial"/>
              <a:buChar char="•"/>
            </a:pPr>
            <a:r>
              <a:rPr lang="en-US" sz="2800">
                <a:solidFill>
                  <a:srgbClr val="FFFFFF"/>
                </a:solidFill>
                <a:latin typeface="29LT Bukra"/>
                <a:ea typeface="29LT Bukra"/>
                <a:cs typeface="29LT Bukra"/>
                <a:sym typeface="29LT Bukra"/>
              </a:rPr>
              <a:t>Integridad referencial estricta mediante Foreign Keys (FK).</a:t>
            </a:r>
          </a:p>
          <a:p>
            <a:pPr algn="l" marL="604528" indent="-302264" lvl="1">
              <a:lnSpc>
                <a:spcPts val="4480"/>
              </a:lnSpc>
              <a:buFont typeface="Arial"/>
              <a:buChar char="•"/>
            </a:pPr>
            <a:r>
              <a:rPr lang="en-US" sz="2800">
                <a:solidFill>
                  <a:srgbClr val="FFFFFF"/>
                </a:solidFill>
                <a:latin typeface="29LT Bukra"/>
                <a:ea typeface="29LT Bukra"/>
                <a:cs typeface="29LT Bukra"/>
                <a:sym typeface="29LT Bukra"/>
              </a:rPr>
              <a:t>Restricciones CHECK y UNIQUE para asegurar la calidad de entrada.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361448" y="2403121"/>
            <a:ext cx="15565103" cy="6342780"/>
          </a:xfrm>
          <a:custGeom>
            <a:avLst/>
            <a:gdLst/>
            <a:ahLst/>
            <a:cxnLst/>
            <a:rect r="r" b="b" t="t" l="l"/>
            <a:pathLst>
              <a:path h="6342780" w="15565103">
                <a:moveTo>
                  <a:pt x="0" y="0"/>
                </a:moveTo>
                <a:lnTo>
                  <a:pt x="15565104" y="0"/>
                </a:lnTo>
                <a:lnTo>
                  <a:pt x="15565104" y="6342780"/>
                </a:lnTo>
                <a:lnTo>
                  <a:pt x="0" y="63427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028700" y="265176"/>
            <a:ext cx="16230600" cy="15563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320"/>
              </a:lnSpc>
            </a:pPr>
            <a:r>
              <a:rPr lang="en-US" b="true" sz="8000">
                <a:solidFill>
                  <a:srgbClr val="38B6FF"/>
                </a:solidFill>
                <a:latin typeface="29LT Bukra Semi-Bold"/>
                <a:ea typeface="29LT Bukra Semi-Bold"/>
                <a:cs typeface="29LT Bukra Semi-Bold"/>
                <a:sym typeface="29LT Bukra Semi-Bold"/>
              </a:rPr>
              <a:t>Modelo Conceptual y Lógico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335472" y="7233774"/>
            <a:ext cx="10632206" cy="2024526"/>
          </a:xfrm>
          <a:custGeom>
            <a:avLst/>
            <a:gdLst/>
            <a:ahLst/>
            <a:cxnLst/>
            <a:rect r="r" b="b" t="t" l="l"/>
            <a:pathLst>
              <a:path h="2024526" w="10632206">
                <a:moveTo>
                  <a:pt x="0" y="0"/>
                </a:moveTo>
                <a:lnTo>
                  <a:pt x="10632206" y="0"/>
                </a:lnTo>
                <a:lnTo>
                  <a:pt x="10632206" y="2024526"/>
                </a:lnTo>
                <a:lnTo>
                  <a:pt x="0" y="202452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2539083" y="3430784"/>
            <a:ext cx="4241073" cy="6261031"/>
          </a:xfrm>
          <a:custGeom>
            <a:avLst/>
            <a:gdLst/>
            <a:ahLst/>
            <a:cxnLst/>
            <a:rect r="r" b="b" t="t" l="l"/>
            <a:pathLst>
              <a:path h="6261031" w="4241073">
                <a:moveTo>
                  <a:pt x="0" y="0"/>
                </a:moveTo>
                <a:lnTo>
                  <a:pt x="4241073" y="0"/>
                </a:lnTo>
                <a:lnTo>
                  <a:pt x="4241073" y="6261031"/>
                </a:lnTo>
                <a:lnTo>
                  <a:pt x="0" y="626103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028700" y="229719"/>
            <a:ext cx="16230600" cy="28613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320"/>
              </a:lnSpc>
            </a:pPr>
            <a:r>
              <a:rPr lang="en-US" b="true" sz="8000">
                <a:solidFill>
                  <a:srgbClr val="38B6FF"/>
                </a:solidFill>
                <a:latin typeface="29LT Bukra Semi-Bold"/>
                <a:ea typeface="29LT Bukra Semi-Bold"/>
                <a:cs typeface="29LT Bukra Semi-Bold"/>
                <a:sym typeface="29LT Bukra Semi-Bold"/>
              </a:rPr>
              <a:t>Modelo Físico (Arquitectura de Almacenamiento)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160056" y="3230759"/>
            <a:ext cx="10983038" cy="34296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04528" indent="-302264" lvl="1">
              <a:lnSpc>
                <a:spcPts val="4480"/>
              </a:lnSpc>
              <a:buFont typeface="Arial"/>
              <a:buChar char="•"/>
            </a:pPr>
            <a:r>
              <a:rPr lang="en-US" sz="2800">
                <a:solidFill>
                  <a:srgbClr val="FFFFFF"/>
                </a:solidFill>
                <a:latin typeface="29LT Bukra"/>
                <a:ea typeface="29LT Bukra"/>
                <a:cs typeface="29LT Bukra"/>
                <a:sym typeface="29LT Bukra"/>
              </a:rPr>
              <a:t>PRIMARY: Almacenamiento de catálogos maestros y metadatos (OmniRuta_Pri_Data.mdf). </a:t>
            </a:r>
          </a:p>
          <a:p>
            <a:pPr algn="l" marL="604528" indent="-302264" lvl="1">
              <a:lnSpc>
                <a:spcPts val="4480"/>
              </a:lnSpc>
              <a:buFont typeface="Arial"/>
              <a:buChar char="•"/>
            </a:pPr>
            <a:r>
              <a:rPr lang="en-US" sz="2800">
                <a:solidFill>
                  <a:srgbClr val="FFFFFF"/>
                </a:solidFill>
                <a:latin typeface="29LT Bukra"/>
                <a:ea typeface="29LT Bukra"/>
                <a:cs typeface="29LT Bukra"/>
                <a:sym typeface="29LT Bukra"/>
              </a:rPr>
              <a:t>FG_Transaccional: Archivo secundario dedicado al núcleo operativo (Despacho, Encomienda). </a:t>
            </a:r>
          </a:p>
          <a:p>
            <a:pPr algn="l" marL="604528" indent="-302264" lvl="1">
              <a:lnSpc>
                <a:spcPts val="4480"/>
              </a:lnSpc>
              <a:buFont typeface="Arial"/>
              <a:buChar char="•"/>
            </a:pPr>
            <a:r>
              <a:rPr lang="en-US" sz="2800">
                <a:solidFill>
                  <a:srgbClr val="FFFFFF"/>
                </a:solidFill>
                <a:latin typeface="29LT Bukra"/>
                <a:ea typeface="29LT Bukra"/>
                <a:cs typeface="29LT Bukra"/>
                <a:sym typeface="29LT Bukra"/>
              </a:rPr>
              <a:t>FG_Historico: Aislamiento de las tablas de tracking masivo para no afectar la transaccionalidad diaria. 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4166579" y="1881703"/>
            <a:ext cx="9648420" cy="7646373"/>
          </a:xfrm>
          <a:custGeom>
            <a:avLst/>
            <a:gdLst/>
            <a:ahLst/>
            <a:cxnLst/>
            <a:rect r="r" b="b" t="t" l="l"/>
            <a:pathLst>
              <a:path h="7646373" w="9648420">
                <a:moveTo>
                  <a:pt x="0" y="0"/>
                </a:moveTo>
                <a:lnTo>
                  <a:pt x="9648419" y="0"/>
                </a:lnTo>
                <a:lnTo>
                  <a:pt x="9648419" y="7646373"/>
                </a:lnTo>
                <a:lnTo>
                  <a:pt x="0" y="764637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875488" y="632704"/>
            <a:ext cx="16230600" cy="9262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192"/>
              </a:lnSpc>
            </a:pPr>
            <a:r>
              <a:rPr lang="en-US" b="true" sz="4800">
                <a:solidFill>
                  <a:srgbClr val="38B6FF"/>
                </a:solidFill>
                <a:latin typeface="29LT Bukra Semi-Bold"/>
                <a:ea typeface="29LT Bukra Semi-Bold"/>
                <a:cs typeface="29LT Bukra Semi-Bold"/>
                <a:sym typeface="29LT Bukra Semi-Bold"/>
              </a:rPr>
              <a:t>Modelo Físico (Arquitectura de Almacenamiento)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5695346" y="1506984"/>
            <a:ext cx="6897308" cy="8012891"/>
          </a:xfrm>
          <a:custGeom>
            <a:avLst/>
            <a:gdLst/>
            <a:ahLst/>
            <a:cxnLst/>
            <a:rect r="r" b="b" t="t" l="l"/>
            <a:pathLst>
              <a:path h="8012891" w="6897308">
                <a:moveTo>
                  <a:pt x="0" y="0"/>
                </a:moveTo>
                <a:lnTo>
                  <a:pt x="6897308" y="0"/>
                </a:lnTo>
                <a:lnTo>
                  <a:pt x="6897308" y="8012892"/>
                </a:lnTo>
                <a:lnTo>
                  <a:pt x="0" y="801289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208006" y="121289"/>
            <a:ext cx="16134636" cy="13856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159"/>
              </a:lnSpc>
              <a:spcBef>
                <a:spcPct val="0"/>
              </a:spcBef>
            </a:pPr>
            <a:r>
              <a:rPr lang="en-US" b="true" sz="7100">
                <a:solidFill>
                  <a:srgbClr val="38B6FF"/>
                </a:solidFill>
                <a:latin typeface="29LT Bukra Semi-Bold"/>
                <a:ea typeface="29LT Bukra Semi-Bold"/>
                <a:cs typeface="29LT Bukra Semi-Bold"/>
                <a:sym typeface="29LT Bukra Semi-Bold"/>
              </a:rPr>
              <a:t>Arquitectura Empresarial (TOGAF)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6111253" y="3171401"/>
            <a:ext cx="11301259" cy="3249112"/>
          </a:xfrm>
          <a:custGeom>
            <a:avLst/>
            <a:gdLst/>
            <a:ahLst/>
            <a:cxnLst/>
            <a:rect r="r" b="b" t="t" l="l"/>
            <a:pathLst>
              <a:path h="3249112" w="11301259">
                <a:moveTo>
                  <a:pt x="0" y="0"/>
                </a:moveTo>
                <a:lnTo>
                  <a:pt x="11301259" y="0"/>
                </a:lnTo>
                <a:lnTo>
                  <a:pt x="11301259" y="3249112"/>
                </a:lnTo>
                <a:lnTo>
                  <a:pt x="0" y="32491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3669879" y="6788528"/>
            <a:ext cx="3051964" cy="3051964"/>
          </a:xfrm>
          <a:custGeom>
            <a:avLst/>
            <a:gdLst/>
            <a:ahLst/>
            <a:cxnLst/>
            <a:rect r="r" b="b" t="t" l="l"/>
            <a:pathLst>
              <a:path h="3051964" w="3051964">
                <a:moveTo>
                  <a:pt x="0" y="0"/>
                </a:moveTo>
                <a:lnTo>
                  <a:pt x="3051963" y="0"/>
                </a:lnTo>
                <a:lnTo>
                  <a:pt x="3051963" y="3051964"/>
                </a:lnTo>
                <a:lnTo>
                  <a:pt x="0" y="30519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028700" y="170844"/>
            <a:ext cx="16230600" cy="27873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062"/>
              </a:lnSpc>
            </a:pPr>
            <a:r>
              <a:rPr lang="en-US" b="true" sz="7800">
                <a:solidFill>
                  <a:srgbClr val="38B6FF"/>
                </a:solidFill>
                <a:latin typeface="29LT Bukra Semi-Bold"/>
                <a:ea typeface="29LT Bukra Semi-Bold"/>
                <a:cs typeface="29LT Bukra Semi-Bold"/>
                <a:sym typeface="29LT Bukra Semi-Bold"/>
              </a:rPr>
              <a:t>Control de Transacciones (Stored Procedures)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735561" y="3023516"/>
            <a:ext cx="4998196" cy="66606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69285" indent="-334642" lvl="1">
              <a:lnSpc>
                <a:spcPts val="3998"/>
              </a:lnSpc>
              <a:buFont typeface="Arial"/>
              <a:buChar char="•"/>
            </a:pPr>
            <a:r>
              <a:rPr lang="en-US" b="true" sz="3099">
                <a:solidFill>
                  <a:srgbClr val="FFFFFF"/>
                </a:solidFill>
                <a:latin typeface="29LT Bukra Semi-Bold"/>
                <a:ea typeface="29LT Bukra Semi-Bold"/>
                <a:cs typeface="29LT Bukra Semi-Bold"/>
                <a:sym typeface="29LT Bukra Semi-Bold"/>
              </a:rPr>
              <a:t>Encapsulamiento de 5 procesos operativos clave. </a:t>
            </a:r>
          </a:p>
          <a:p>
            <a:pPr algn="l" marL="669285" indent="-334642" lvl="1">
              <a:lnSpc>
                <a:spcPts val="3998"/>
              </a:lnSpc>
              <a:buFont typeface="Arial"/>
              <a:buChar char="•"/>
            </a:pPr>
            <a:r>
              <a:rPr lang="en-US" b="true" sz="3099">
                <a:solidFill>
                  <a:srgbClr val="FFFFFF"/>
                </a:solidFill>
                <a:latin typeface="29LT Bukra Semi-Bold"/>
                <a:ea typeface="29LT Bukra Semi-Bold"/>
                <a:cs typeface="29LT Bukra Semi-Bold"/>
                <a:sym typeface="29LT Bukra Semi-Bold"/>
              </a:rPr>
              <a:t>Bloqueo contra vulnerabilidades de Inyección SQL.</a:t>
            </a:r>
          </a:p>
          <a:p>
            <a:pPr algn="l" marL="669285" indent="-334642" lvl="1">
              <a:lnSpc>
                <a:spcPts val="3998"/>
              </a:lnSpc>
              <a:buFont typeface="Arial"/>
              <a:buChar char="•"/>
            </a:pPr>
            <a:r>
              <a:rPr lang="en-US" b="true" sz="3099">
                <a:solidFill>
                  <a:srgbClr val="FFFFFF"/>
                </a:solidFill>
                <a:latin typeface="29LT Bukra Semi-Bold"/>
                <a:ea typeface="29LT Bukra Semi-Bold"/>
                <a:cs typeface="29LT Bukra Semi-Bold"/>
                <a:sym typeface="29LT Bukra Semi-Bold"/>
              </a:rPr>
              <a:t>Implementación de Soft Delete (eliminación lógica) para proteger la auditoría y los despachos históricos. 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3208835" y="3579417"/>
            <a:ext cx="11301259" cy="5678883"/>
          </a:xfrm>
          <a:custGeom>
            <a:avLst/>
            <a:gdLst/>
            <a:ahLst/>
            <a:cxnLst/>
            <a:rect r="r" b="b" t="t" l="l"/>
            <a:pathLst>
              <a:path h="5678883" w="11301259">
                <a:moveTo>
                  <a:pt x="0" y="0"/>
                </a:moveTo>
                <a:lnTo>
                  <a:pt x="11301259" y="0"/>
                </a:lnTo>
                <a:lnTo>
                  <a:pt x="11301259" y="5678883"/>
                </a:lnTo>
                <a:lnTo>
                  <a:pt x="0" y="567888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028700" y="170844"/>
            <a:ext cx="16230600" cy="27873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062"/>
              </a:lnSpc>
            </a:pPr>
            <a:r>
              <a:rPr lang="en-US" b="true" sz="7800">
                <a:solidFill>
                  <a:srgbClr val="38B6FF"/>
                </a:solidFill>
                <a:latin typeface="29LT Bukra Semi-Bold"/>
                <a:ea typeface="29LT Bukra Semi-Bold"/>
                <a:cs typeface="29LT Bukra Semi-Bold"/>
                <a:sym typeface="29LT Bukra Semi-Bold"/>
              </a:rPr>
              <a:t>Control de Transacciones (Stored Procedures)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028700" y="7718996"/>
            <a:ext cx="16230600" cy="1521619"/>
          </a:xfrm>
          <a:custGeom>
            <a:avLst/>
            <a:gdLst/>
            <a:ahLst/>
            <a:cxnLst/>
            <a:rect r="r" b="b" t="t" l="l"/>
            <a:pathLst>
              <a:path h="1521619" w="16230600">
                <a:moveTo>
                  <a:pt x="0" y="0"/>
                </a:moveTo>
                <a:lnTo>
                  <a:pt x="16230600" y="0"/>
                </a:lnTo>
                <a:lnTo>
                  <a:pt x="16230600" y="1521619"/>
                </a:lnTo>
                <a:lnTo>
                  <a:pt x="0" y="15216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188642" y="2308267"/>
            <a:ext cx="2068152" cy="2068152"/>
          </a:xfrm>
          <a:custGeom>
            <a:avLst/>
            <a:gdLst/>
            <a:ahLst/>
            <a:cxnLst/>
            <a:rect r="r" b="b" t="t" l="l"/>
            <a:pathLst>
              <a:path h="2068152" w="2068152">
                <a:moveTo>
                  <a:pt x="0" y="0"/>
                </a:moveTo>
                <a:lnTo>
                  <a:pt x="2068151" y="0"/>
                </a:lnTo>
                <a:lnTo>
                  <a:pt x="2068151" y="2068152"/>
                </a:lnTo>
                <a:lnTo>
                  <a:pt x="0" y="206815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1895564" y="2522698"/>
            <a:ext cx="5203794" cy="1639290"/>
          </a:xfrm>
          <a:custGeom>
            <a:avLst/>
            <a:gdLst/>
            <a:ahLst/>
            <a:cxnLst/>
            <a:rect r="r" b="b" t="t" l="l"/>
            <a:pathLst>
              <a:path h="1639290" w="5203794">
                <a:moveTo>
                  <a:pt x="0" y="0"/>
                </a:moveTo>
                <a:lnTo>
                  <a:pt x="5203794" y="0"/>
                </a:lnTo>
                <a:lnTo>
                  <a:pt x="5203794" y="1639290"/>
                </a:lnTo>
                <a:lnTo>
                  <a:pt x="0" y="163929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4068918" y="2330296"/>
            <a:ext cx="2046123" cy="2046123"/>
            <a:chOff x="0" y="0"/>
            <a:chExt cx="812800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90C4D9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107950"/>
              <a:ext cx="711200" cy="5016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9466689" y="2308267"/>
            <a:ext cx="2046123" cy="2046123"/>
            <a:chOff x="0" y="0"/>
            <a:chExt cx="812800" cy="8128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90C4D9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107950"/>
              <a:ext cx="711200" cy="5016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2" id="12"/>
          <p:cNvSpPr/>
          <p:nvPr/>
        </p:nvSpPr>
        <p:spPr>
          <a:xfrm flipH="false" flipV="false" rot="0">
            <a:off x="6764851" y="2407251"/>
            <a:ext cx="1892213" cy="1892213"/>
          </a:xfrm>
          <a:custGeom>
            <a:avLst/>
            <a:gdLst/>
            <a:ahLst/>
            <a:cxnLst/>
            <a:rect r="r" b="b" t="t" l="l"/>
            <a:pathLst>
              <a:path h="1892213" w="1892213">
                <a:moveTo>
                  <a:pt x="0" y="0"/>
                </a:moveTo>
                <a:lnTo>
                  <a:pt x="1892213" y="0"/>
                </a:lnTo>
                <a:lnTo>
                  <a:pt x="1892213" y="1892213"/>
                </a:lnTo>
                <a:lnTo>
                  <a:pt x="0" y="189221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1028700" y="462262"/>
            <a:ext cx="16230600" cy="15110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062"/>
              </a:lnSpc>
            </a:pPr>
            <a:r>
              <a:rPr lang="en-US" b="true" sz="7800">
                <a:solidFill>
                  <a:srgbClr val="38B6FF"/>
                </a:solidFill>
                <a:latin typeface="29LT Bukra Semi-Bold"/>
                <a:ea typeface="29LT Bukra Semi-Bold"/>
                <a:cs typeface="29LT Bukra Semi-Bold"/>
                <a:sym typeface="29LT Bukra Semi-Bold"/>
              </a:rPr>
              <a:t>Capa de Rendimiento y Vistas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871563" y="4606607"/>
            <a:ext cx="16160760" cy="27028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82927" indent="-291463" lvl="1">
              <a:lnSpc>
                <a:spcPts val="3482"/>
              </a:lnSpc>
              <a:buFont typeface="Arial"/>
              <a:buChar char="•"/>
            </a:pPr>
            <a:r>
              <a:rPr lang="en-US" b="true" sz="2699">
                <a:solidFill>
                  <a:srgbClr val="FFFFFF"/>
                </a:solidFill>
                <a:latin typeface="29LT Bukra Semi-Bold"/>
                <a:ea typeface="29LT Bukra Semi-Bold"/>
                <a:cs typeface="29LT Bukra Semi-Bold"/>
                <a:sym typeface="29LT Bukra Semi-Bold"/>
              </a:rPr>
              <a:t>Í</a:t>
            </a:r>
            <a:r>
              <a:rPr lang="en-US" b="true" sz="2699">
                <a:solidFill>
                  <a:srgbClr val="FFFFFF"/>
                </a:solidFill>
                <a:latin typeface="29LT Bukra Semi-Bold"/>
                <a:ea typeface="29LT Bukra Semi-Bold"/>
                <a:cs typeface="29LT Bukra Semi-Bold"/>
                <a:sym typeface="29LT Bukra Semi-Bold"/>
              </a:rPr>
              <a:t>ndices Non-Clustered: Aplicados en columnas de alta demanda para acelerar búsquedas. </a:t>
            </a:r>
          </a:p>
          <a:p>
            <a:pPr algn="l" marL="582927" indent="-291463" lvl="1">
              <a:lnSpc>
                <a:spcPts val="3482"/>
              </a:lnSpc>
              <a:buFont typeface="Arial"/>
              <a:buChar char="•"/>
            </a:pPr>
            <a:r>
              <a:rPr lang="en-US" b="true" sz="2699">
                <a:solidFill>
                  <a:srgbClr val="FFFFFF"/>
                </a:solidFill>
                <a:latin typeface="29LT Bukra Semi-Bold"/>
                <a:ea typeface="29LT Bukra Semi-Bold"/>
                <a:cs typeface="29LT Bukra Semi-Bold"/>
                <a:sym typeface="29LT Bukra Semi-Bold"/>
              </a:rPr>
              <a:t>Vistas Analíticas: Desnormalización segura (vw_DashboardLogistico) para facilitar la lectura del BI. </a:t>
            </a:r>
          </a:p>
          <a:p>
            <a:pPr algn="l" marL="582927" indent="-291463" lvl="1">
              <a:lnSpc>
                <a:spcPts val="3482"/>
              </a:lnSpc>
              <a:buFont typeface="Arial"/>
              <a:buChar char="•"/>
            </a:pPr>
            <a:r>
              <a:rPr lang="en-US" b="true" sz="2699">
                <a:solidFill>
                  <a:srgbClr val="FFFFFF"/>
                </a:solidFill>
                <a:latin typeface="29LT Bukra Semi-Bold"/>
                <a:ea typeface="29LT Bukra Semi-Bold"/>
                <a:cs typeface="29LT Bukra Semi-Bold"/>
                <a:sym typeface="29LT Bukra Semi-Bold"/>
              </a:rPr>
              <a:t>Conectividad Híbrida: Implementación de un túnel seguro TCP con ngrok para exponer el entorno local hacia la nube de Google.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319837" y="4371421"/>
            <a:ext cx="15648327" cy="2562413"/>
          </a:xfrm>
          <a:custGeom>
            <a:avLst/>
            <a:gdLst/>
            <a:ahLst/>
            <a:cxnLst/>
            <a:rect r="r" b="b" t="t" l="l"/>
            <a:pathLst>
              <a:path h="2562413" w="15648327">
                <a:moveTo>
                  <a:pt x="0" y="0"/>
                </a:moveTo>
                <a:lnTo>
                  <a:pt x="15648326" y="0"/>
                </a:lnTo>
                <a:lnTo>
                  <a:pt x="15648326" y="2562414"/>
                </a:lnTo>
                <a:lnTo>
                  <a:pt x="0" y="256241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319837" y="7376013"/>
            <a:ext cx="15648327" cy="2034282"/>
          </a:xfrm>
          <a:custGeom>
            <a:avLst/>
            <a:gdLst/>
            <a:ahLst/>
            <a:cxnLst/>
            <a:rect r="r" b="b" t="t" l="l"/>
            <a:pathLst>
              <a:path h="2034282" w="15648327">
                <a:moveTo>
                  <a:pt x="0" y="0"/>
                </a:moveTo>
                <a:lnTo>
                  <a:pt x="15648326" y="0"/>
                </a:lnTo>
                <a:lnTo>
                  <a:pt x="15648326" y="2034282"/>
                </a:lnTo>
                <a:lnTo>
                  <a:pt x="0" y="203428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2619284" y="615307"/>
            <a:ext cx="3178479" cy="3178479"/>
          </a:xfrm>
          <a:custGeom>
            <a:avLst/>
            <a:gdLst/>
            <a:ahLst/>
            <a:cxnLst/>
            <a:rect r="r" b="b" t="t" l="l"/>
            <a:pathLst>
              <a:path h="3178479" w="3178479">
                <a:moveTo>
                  <a:pt x="0" y="0"/>
                </a:moveTo>
                <a:lnTo>
                  <a:pt x="3178479" y="0"/>
                </a:lnTo>
                <a:lnTo>
                  <a:pt x="3178479" y="3178479"/>
                </a:lnTo>
                <a:lnTo>
                  <a:pt x="0" y="317847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028700" y="10750"/>
            <a:ext cx="10933854" cy="40637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062"/>
              </a:lnSpc>
            </a:pPr>
            <a:r>
              <a:rPr lang="en-US" sz="7800" b="true">
                <a:solidFill>
                  <a:srgbClr val="38B6FF"/>
                </a:solidFill>
                <a:latin typeface="29LT Bukra Semi-Bold"/>
                <a:ea typeface="29LT Bukra Semi-Bold"/>
                <a:cs typeface="29LT Bukra Semi-Bold"/>
                <a:sym typeface="29LT Bukra Semi-Bold"/>
              </a:rPr>
              <a:t>Capa de Rendimiento y Vistas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828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542136" y="1279140"/>
            <a:ext cx="11203729" cy="8402797"/>
          </a:xfrm>
          <a:custGeom>
            <a:avLst/>
            <a:gdLst/>
            <a:ahLst/>
            <a:cxnLst/>
            <a:rect r="r" b="b" t="t" l="l"/>
            <a:pathLst>
              <a:path h="8402797" w="11203729">
                <a:moveTo>
                  <a:pt x="0" y="0"/>
                </a:moveTo>
                <a:lnTo>
                  <a:pt x="11203728" y="0"/>
                </a:lnTo>
                <a:lnTo>
                  <a:pt x="11203728" y="8402797"/>
                </a:lnTo>
                <a:lnTo>
                  <a:pt x="0" y="840279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37844"/>
            <a:ext cx="16230600" cy="12412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256"/>
              </a:lnSpc>
            </a:pPr>
            <a:r>
              <a:rPr lang="en-US" b="true" sz="6400">
                <a:solidFill>
                  <a:srgbClr val="38B6FF"/>
                </a:solidFill>
                <a:latin typeface="29LT Bukra Semi-Bold"/>
                <a:ea typeface="29LT Bukra Semi-Bold"/>
                <a:cs typeface="29LT Bukra Semi-Bold"/>
                <a:sym typeface="29LT Bukra Semi-Bold"/>
              </a:rPr>
              <a:t>Dashboard Gerencial OmniRuta 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63163" y="1903856"/>
            <a:ext cx="12676478" cy="73544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57895" indent="-528947" lvl="1">
              <a:lnSpc>
                <a:spcPts val="6320"/>
              </a:lnSpc>
              <a:buFont typeface="Arial"/>
              <a:buChar char="•"/>
            </a:pPr>
            <a:r>
              <a:rPr lang="en-US" b="true" sz="4899">
                <a:solidFill>
                  <a:srgbClr val="FFFFFF"/>
                </a:solidFill>
                <a:latin typeface="29LT Bukra Semi-Bold"/>
                <a:ea typeface="29LT Bukra Semi-Bold"/>
                <a:cs typeface="29LT Bukra Semi-Bold"/>
                <a:sym typeface="29LT Bukra Semi-Bold"/>
              </a:rPr>
              <a:t>L</a:t>
            </a:r>
            <a:r>
              <a:rPr lang="en-US" b="true" sz="4899">
                <a:solidFill>
                  <a:srgbClr val="FFFFFF"/>
                </a:solidFill>
                <a:latin typeface="29LT Bukra Semi-Bold"/>
                <a:ea typeface="29LT Bukra Semi-Bold"/>
                <a:cs typeface="29LT Bukra Semi-Bold"/>
                <a:sym typeface="29LT Bukra Semi-Bold"/>
              </a:rPr>
              <a:t>a distribución física en filegroups garantiza la escalabilidad del sistema.</a:t>
            </a:r>
          </a:p>
          <a:p>
            <a:pPr algn="l" marL="1057895" indent="-528947" lvl="1">
              <a:lnSpc>
                <a:spcPts val="6320"/>
              </a:lnSpc>
              <a:buFont typeface="Arial"/>
              <a:buChar char="•"/>
            </a:pPr>
            <a:r>
              <a:rPr lang="en-US" b="true" sz="4899">
                <a:solidFill>
                  <a:srgbClr val="FFFFFF"/>
                </a:solidFill>
                <a:latin typeface="29LT Bukra Semi-Bold"/>
                <a:ea typeface="29LT Bukra Semi-Bold"/>
                <a:cs typeface="29LT Bukra Semi-Bold"/>
                <a:sym typeface="29LT Bukra Semi-Bold"/>
              </a:rPr>
              <a:t>El motor de base de datos asume la responsabilidad de la integridad de la información empresarial.</a:t>
            </a:r>
          </a:p>
          <a:p>
            <a:pPr algn="l" marL="1057895" indent="-528947" lvl="1">
              <a:lnSpc>
                <a:spcPts val="6320"/>
              </a:lnSpc>
              <a:buFont typeface="Arial"/>
              <a:buChar char="•"/>
            </a:pPr>
            <a:r>
              <a:rPr lang="en-US" b="true" sz="4899">
                <a:solidFill>
                  <a:srgbClr val="FFFFFF"/>
                </a:solidFill>
                <a:latin typeface="29LT Bukra Semi-Bold"/>
                <a:ea typeface="29LT Bukra Semi-Bold"/>
                <a:cs typeface="29LT Bukra Semi-Bold"/>
                <a:sym typeface="29LT Bukra Semi-Bold"/>
              </a:rPr>
              <a:t>La visualización interactiva acelera el tiempo de respuesta frente a anomalías operativas.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3739641" y="2911015"/>
            <a:ext cx="3983297" cy="3983297"/>
          </a:xfrm>
          <a:custGeom>
            <a:avLst/>
            <a:gdLst/>
            <a:ahLst/>
            <a:cxnLst/>
            <a:rect r="r" b="b" t="t" l="l"/>
            <a:pathLst>
              <a:path h="3983297" w="3983297">
                <a:moveTo>
                  <a:pt x="0" y="0"/>
                </a:moveTo>
                <a:lnTo>
                  <a:pt x="3983297" y="0"/>
                </a:lnTo>
                <a:lnTo>
                  <a:pt x="3983297" y="3983297"/>
                </a:lnTo>
                <a:lnTo>
                  <a:pt x="0" y="398329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063163" y="243869"/>
            <a:ext cx="16230600" cy="15563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320"/>
              </a:lnSpc>
            </a:pPr>
            <a:r>
              <a:rPr lang="en-US" b="true" sz="8000">
                <a:solidFill>
                  <a:srgbClr val="38B6FF"/>
                </a:solidFill>
                <a:latin typeface="29LT Bukra Semi-Bold"/>
                <a:ea typeface="29LT Bukra Semi-Bold"/>
                <a:cs typeface="29LT Bukra Semi-Bold"/>
                <a:sym typeface="29LT Bukra Semi-Bold"/>
              </a:rPr>
              <a:t>Conclusiones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7158383" y="3857518"/>
            <a:ext cx="5634675" cy="5634675"/>
          </a:xfrm>
          <a:custGeom>
            <a:avLst/>
            <a:gdLst/>
            <a:ahLst/>
            <a:cxnLst/>
            <a:rect r="r" b="b" t="t" l="l"/>
            <a:pathLst>
              <a:path h="5634675" w="5634675">
                <a:moveTo>
                  <a:pt x="0" y="0"/>
                </a:moveTo>
                <a:lnTo>
                  <a:pt x="5634675" y="0"/>
                </a:lnTo>
                <a:lnTo>
                  <a:pt x="5634675" y="5634675"/>
                </a:lnTo>
                <a:lnTo>
                  <a:pt x="0" y="563467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594578" y="1654728"/>
            <a:ext cx="15664722" cy="1830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719"/>
              </a:lnSpc>
            </a:pPr>
            <a:r>
              <a:rPr lang="en-US" sz="4800">
                <a:solidFill>
                  <a:srgbClr val="FFFFFF"/>
                </a:solidFill>
                <a:latin typeface="29LT Bukra"/>
                <a:ea typeface="29LT Bukra"/>
                <a:cs typeface="29LT Bukra"/>
                <a:sym typeface="29LT Bukra"/>
              </a:rPr>
              <a:t>Escanea el QR para interactuar con el Dashboard.</a:t>
            </a:r>
          </a:p>
          <a:p>
            <a:pPr algn="ctr">
              <a:lnSpc>
                <a:spcPts val="6719"/>
              </a:lnSpc>
              <a:spcBef>
                <a:spcPct val="0"/>
              </a:spcBef>
            </a:pPr>
            <a:r>
              <a:rPr lang="en-US" sz="4800">
                <a:solidFill>
                  <a:srgbClr val="FFFFFF"/>
                </a:solidFill>
                <a:latin typeface="29LT Bukra"/>
                <a:ea typeface="29LT Bukra"/>
                <a:cs typeface="29LT Bukra"/>
                <a:sym typeface="29LT Bukra"/>
              </a:rPr>
              <a:t>(Usar cuenta institucional)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223519" y="336139"/>
            <a:ext cx="15840962" cy="17449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610"/>
              </a:lnSpc>
            </a:pPr>
            <a:r>
              <a:rPr lang="en-US" b="true" sz="9000">
                <a:solidFill>
                  <a:srgbClr val="38B6FF"/>
                </a:solidFill>
                <a:latin typeface="29LT Bukra Semi-Bold"/>
                <a:ea typeface="29LT Bukra Semi-Bold"/>
                <a:cs typeface="29LT Bukra Semi-Bold"/>
                <a:sym typeface="29LT Bukra Semi-Bold"/>
              </a:rPr>
              <a:t>¡Gracias por su atención!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DAHLnbI0ffg</dc:identifier>
  <dcterms:modified xsi:type="dcterms:W3CDTF">2011-08-01T06:04:30Z</dcterms:modified>
  <cp:revision>1</cp:revision>
  <dc:title>Presentación OmniRuta</dc:title>
</cp:coreProperties>
</file>